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26272D-43E9-2957-D11F-6912D2BD7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EA9786F-84D2-5222-5C64-55C70777D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DA07D87-6AD8-61E4-7BE5-AC40753C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F9D20E-1AFC-727D-21F2-0A7E1A10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9FFDF2-FCD3-F882-B4E4-6EEB3AA8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5BAB49-B505-5197-E38E-D2A71D12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343D72-F574-6C42-56F5-8EAFFC725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B854B7-B8AA-FFD8-38A9-F3F15F56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022D05-FCC4-F3D2-0069-B7F9317B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07B4A01-79F5-7644-8786-4FDC66C4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2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23F7F-2625-0CCC-ECCB-112CA3CCA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DDB35B-C996-9C99-EEA7-D45621E9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E706F5-ABA8-A1B1-EE51-2BD362E8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EAA5393-F13F-25AC-59B8-30D682E7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1C022F-9E75-2BE0-D100-C161C24B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4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45C9AC-F1E6-F8AA-7064-DA650709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1554B6-17C0-7BCE-C808-9C94B710F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20DAF4B-FEA8-1DF4-4E36-5CAC3F845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6915D83-BE7A-C5AF-2874-C9333973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D01B4E9-8A9C-7821-D2FE-64B47DB4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7154DE8-1BC6-C2D6-7EED-55642EFC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9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C1E8BF-2459-AC9E-09AB-FC8150CC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AC5E28-DBA1-27B0-29E4-0716E5D56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E966838-714E-366D-415F-2A956650A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67AD329-31E8-68ED-F219-666EC948A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5DF289B-8628-A255-E407-C188870DE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040FBA1-8E7E-F6FE-019E-CC29DD3C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2EC8CE5-6753-E1CE-35F6-C090FEF7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19964FB-2686-4C33-6C83-867D9844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5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445BE8-B43A-6954-F1F1-9DBC2D07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7B2E425-116D-05BF-5309-F84007F4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570C465-83F7-1FA2-58E0-2D02DB6D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DBE6E03-612C-8D4B-94BD-AA34DCA4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85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AF2FB9A-B730-F81B-2583-2F4FDFBA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8C9683E-CD6F-F326-BFBC-6A36B852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BB181E-6B81-7590-84D8-ABEA545C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5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6EDF86-587E-FCF6-5627-145F3F2D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4B6D27-FEFC-8E02-4B65-BCB490CC9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5DE1D3D-1C0A-AD12-E25B-84E83C25B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2DCC9D-B109-6C6D-D6AD-4797A334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D883DCD-BC43-44EF-6CA6-40C161F2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5C16E5-8E54-8633-B566-3359AC9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57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7F77E5-9BCE-58EE-7266-E689ABE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9D4939D-6133-B61A-B716-D02CBDAD6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6130A17-A73E-4FD6-54AC-1B42D3E01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5972F0C-823C-FF1E-559A-BDFED6D7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9304C36-E6CB-C7B7-84EA-83EB06AC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4058D4-F8AF-B1A5-33EF-9E2ED1D0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1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109F2E-2854-2548-3A3F-1CA98911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FFF3DC-696F-E063-46E4-F5458F754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6D1ADB-EE7A-6936-3CB2-A031729F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EC68DB-2A64-716B-6207-0238FEAC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354341-7232-011D-112F-E27BAB61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96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28F8364-2EAC-24AF-D391-FF393EFC8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FB742B-EF22-DCC2-384F-78F2EB875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C8EA3D-B33F-C77A-0897-618721A4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11FA3A-7A6A-910B-9CA1-EAC2D95D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5D546-10DD-D6C0-4421-9462E450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98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84AD00C-AC88-1AEC-17F5-67AB2574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294A430-50FF-222E-C9CA-5D825F45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CFFA90-EC29-DCA3-1B39-865DF93ED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1D4A-0A1A-4187-BBF6-CB8B7BFF409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891F64A-224C-8E30-20EE-55F1BDF7B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FA3804-1F10-C007-8AE2-BAE4F12FB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3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" descr="SSE-Computer Science and Engineer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662" y="12782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 txBox="1"/>
          <p:nvPr/>
        </p:nvSpPr>
        <p:spPr>
          <a:xfrm>
            <a:off x="821092" y="1535652"/>
            <a:ext cx="108222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B1B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Public Parking Pricing System Based on Real-Time Demand Prediction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3464601" y="2732575"/>
            <a:ext cx="76692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CSA0925-PROGRAMING WITH JAVA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-226141" y="4663769"/>
            <a:ext cx="7669200" cy="14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512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Sivasankar C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 of CSE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 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7708382" y="4272824"/>
            <a:ext cx="76692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512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Scholar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Chand basha(192424218)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Ganeshram. M(192321060)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Monish. S(192311132)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1B3A9E-42E9-98E8-CA65-653BFA34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2176D18-A435-2D31-769A-AD9D9E37D9AF}"/>
              </a:ext>
            </a:extLst>
          </p:cNvPr>
          <p:cNvSpPr txBox="1"/>
          <p:nvPr/>
        </p:nvSpPr>
        <p:spPr>
          <a:xfrm>
            <a:off x="2719701" y="26517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Problem Background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74B6F7EA-49FA-530B-5305-2249941BB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7B1E654B-CCC0-3770-B3CA-825E57C7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xmlns="" id="{E750BDB4-4A89-91C2-9EBB-7E4EFABE3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509" y="1452654"/>
            <a:ext cx="3298254" cy="43977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8FB0E13-83C1-5013-41CB-9D64940B5412}"/>
              </a:ext>
            </a:extLst>
          </p:cNvPr>
          <p:cNvSpPr txBox="1"/>
          <p:nvPr/>
        </p:nvSpPr>
        <p:spPr>
          <a:xfrm>
            <a:off x="1238058" y="1603059"/>
            <a:ext cx="6000942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has significantly increased the number of vehicles in cities.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parking systems use fixed pricing regardless of parking demand.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High-demand areas become overcrowded, while other parking spaces remain underutilized.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spend considerable time searching for available parking, increasing traffic congestion and fuel consumption.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pricing leads to inefficient parking space utilization and reduced operational efficiency.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51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/>
        </p:nvSpPr>
        <p:spPr>
          <a:xfrm>
            <a:off x="3167766" y="377682"/>
            <a:ext cx="7118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800"/>
              <a:buFont typeface="Times New Roman"/>
              <a:buNone/>
            </a:pPr>
            <a:r>
              <a:rPr lang="en-US" sz="4800" b="1" i="0" u="none" strike="noStrike" cap="none" dirty="0">
                <a:solidFill>
                  <a:srgbClr val="1B1B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2493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2D49F7E-806C-07CA-168A-EC2AD9F8D128}"/>
              </a:ext>
            </a:extLst>
          </p:cNvPr>
          <p:cNvSpPr txBox="1"/>
          <p:nvPr/>
        </p:nvSpPr>
        <p:spPr>
          <a:xfrm>
            <a:off x="1415143" y="1969459"/>
            <a:ext cx="10014857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parking prices fail to reflect real-time demand.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High-demand areas become overcrowded while other parking lots remain underutilized.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waste time searching for parking, increasing congestion and fuel consumption.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intelligent demand prediction and adaptive pricing.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pricing system using real-time demand prediction can optimize parking utilization, reduce traffic, and improve user satisfaction.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9A3D8F-8FB4-6280-E26A-DBF5C8BC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D8EEA2D-0F05-458B-ED7B-8D7D9DBC12CF}"/>
              </a:ext>
            </a:extLst>
          </p:cNvPr>
          <p:cNvSpPr txBox="1"/>
          <p:nvPr/>
        </p:nvSpPr>
        <p:spPr>
          <a:xfrm>
            <a:off x="3156155" y="377639"/>
            <a:ext cx="6096000" cy="81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Project Objectives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CE9DF4B5-3D6E-4C23-A7A7-F8525BE78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ECA8A0D2-8404-F380-B02B-13AD7A800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xmlns="" id="{E9FAB2A7-1E62-A39B-3E6F-13C2D3D1D5E5}"/>
              </a:ext>
            </a:extLst>
          </p:cNvPr>
          <p:cNvSpPr/>
          <p:nvPr/>
        </p:nvSpPr>
        <p:spPr>
          <a:xfrm>
            <a:off x="1506295" y="1732819"/>
            <a:ext cx="8320166" cy="624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Primary Goal: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/>
              <a:t>To develop a Dynamic Public Parking Pricing System that predicts real-time parking demand and dynamically adjusts parking prices.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xmlns="" id="{916FCD7B-DBA2-7417-D963-B3F718CD2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545588" y="2858329"/>
            <a:ext cx="2622724" cy="1990683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xmlns="" id="{1DCAD368-1C0D-E7E5-FAD0-B77B74236882}"/>
              </a:ext>
            </a:extLst>
          </p:cNvPr>
          <p:cNvSpPr/>
          <p:nvPr/>
        </p:nvSpPr>
        <p:spPr>
          <a:xfrm>
            <a:off x="2716887" y="298253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xmlns="" id="{5E34CCEE-1192-AFA9-195D-C0EA73296D64}"/>
              </a:ext>
            </a:extLst>
          </p:cNvPr>
          <p:cNvSpPr/>
          <p:nvPr/>
        </p:nvSpPr>
        <p:spPr>
          <a:xfrm>
            <a:off x="1672634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xmlns="" id="{129A9C90-1412-A59D-96CF-8CABF3D8CAD9}"/>
              </a:ext>
            </a:extLst>
          </p:cNvPr>
          <p:cNvSpPr/>
          <p:nvPr/>
        </p:nvSpPr>
        <p:spPr>
          <a:xfrm>
            <a:off x="1706397" y="3849323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Achieve ≥90% demand prediction accuracy using historical and real-time occupancy data]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xmlns="" id="{0F3E57DB-3712-DF11-02FA-49C098227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248678" y="2853981"/>
            <a:ext cx="2622724" cy="1990683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xmlns="" id="{AFDBEB48-8681-36D2-2AC5-79014965AD6D}"/>
              </a:ext>
            </a:extLst>
          </p:cNvPr>
          <p:cNvSpPr/>
          <p:nvPr/>
        </p:nvSpPr>
        <p:spPr>
          <a:xfrm>
            <a:off x="5347439" y="29825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xmlns="" id="{97771177-C594-4B02-C2F9-D8C58875A1A9}"/>
              </a:ext>
            </a:extLst>
          </p:cNvPr>
          <p:cNvSpPr/>
          <p:nvPr/>
        </p:nvSpPr>
        <p:spPr>
          <a:xfrm>
            <a:off x="4409487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xmlns="" id="{BE80509A-A909-1A77-BD60-492E70CC7EF9}"/>
              </a:ext>
            </a:extLst>
          </p:cNvPr>
          <p:cNvSpPr/>
          <p:nvPr/>
        </p:nvSpPr>
        <p:spPr>
          <a:xfrm>
            <a:off x="4451827" y="3962730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Reduce average parking search time by ≥25% within the target zone]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xmlns="" id="{158ECC28-E4A7-F78C-5C59-DBA894DE6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13742" y="2858327"/>
            <a:ext cx="2622724" cy="1990683"/>
          </a:xfrm>
          <a:prstGeom prst="rect">
            <a:avLst/>
          </a:prstGeom>
        </p:spPr>
      </p:pic>
      <p:sp>
        <p:nvSpPr>
          <p:cNvPr id="27" name="Text 8">
            <a:extLst>
              <a:ext uri="{FF2B5EF4-FFF2-40B4-BE49-F238E27FC236}">
                <a16:creationId xmlns:a16="http://schemas.microsoft.com/office/drawing/2014/main" xmlns="" id="{FE5C6461-5949-D7AB-344B-336D12CC9DD9}"/>
              </a:ext>
            </a:extLst>
          </p:cNvPr>
          <p:cNvSpPr/>
          <p:nvPr/>
        </p:nvSpPr>
        <p:spPr>
          <a:xfrm>
            <a:off x="8012503" y="298253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xmlns="" id="{FF294833-5AF6-1A3E-237A-F3BADFE8A563}"/>
              </a:ext>
            </a:extLst>
          </p:cNvPr>
          <p:cNvSpPr/>
          <p:nvPr/>
        </p:nvSpPr>
        <p:spPr>
          <a:xfrm>
            <a:off x="7067707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xmlns="" id="{CA1651B8-E048-BFF7-6128-32A5CFA08D28}"/>
              </a:ext>
            </a:extLst>
          </p:cNvPr>
          <p:cNvSpPr/>
          <p:nvPr/>
        </p:nvSpPr>
        <p:spPr>
          <a:xfrm>
            <a:off x="7182987" y="3879957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Deploy a responsive user notification system with latency under 5 seconds]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xmlns="" id="{D91E2766-8F27-AE1A-B8A8-834D287CD753}"/>
              </a:ext>
            </a:extLst>
          </p:cNvPr>
          <p:cNvSpPr/>
          <p:nvPr/>
        </p:nvSpPr>
        <p:spPr>
          <a:xfrm>
            <a:off x="1484159" y="5386978"/>
            <a:ext cx="8151763" cy="78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Scope: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/>
              <a:t>The project focuses on implementing a dynamic parking pricing system that uses real-time and historical parking data to predict demand and adjust parking fees accordingly.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25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04AD7D-9370-8AF6-DB30-C3AFCD11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251F39E-ED21-A113-26BD-164A1E87E07D}"/>
              </a:ext>
            </a:extLst>
          </p:cNvPr>
          <p:cNvSpPr txBox="1"/>
          <p:nvPr/>
        </p:nvSpPr>
        <p:spPr>
          <a:xfrm>
            <a:off x="2924114" y="377639"/>
            <a:ext cx="6096000" cy="81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Literature Survey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960A588A-8B62-3417-089E-6F070B5AD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2B538B36-E28C-27EA-57BC-B901126D5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87990424-25A9-1D0D-7E1E-BD1CF753E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080950"/>
              </p:ext>
            </p:extLst>
          </p:nvPr>
        </p:nvGraphicFramePr>
        <p:xfrm>
          <a:off x="985520" y="1634066"/>
          <a:ext cx="10180320" cy="444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xmlns="" val="36547145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4120865298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xmlns="" val="248443119"/>
                    </a:ext>
                  </a:extLst>
                </a:gridCol>
                <a:gridCol w="2306320">
                  <a:extLst>
                    <a:ext uri="{9D8B030D-6E8A-4147-A177-3AD203B41FA5}">
                      <a16:colId xmlns:a16="http://schemas.microsoft.com/office/drawing/2014/main" xmlns="" val="143880915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xmlns="" val="3693560180"/>
                    </a:ext>
                  </a:extLst>
                </a:gridCol>
                <a:gridCol w="2265680">
                  <a:extLst>
                    <a:ext uri="{9D8B030D-6E8A-4147-A177-3AD203B41FA5}">
                      <a16:colId xmlns:a16="http://schemas.microsoft.com/office/drawing/2014/main" xmlns="" val="2477731618"/>
                    </a:ext>
                  </a:extLst>
                </a:gridCol>
              </a:tblGrid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 / Findings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/ Limitation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638086948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&amp; Shah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Parking Monitoring System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IoT-enabled parking monitoring system using occupancy sensors and cloud connectivity for real-time parking availability.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support dynamic pricing or parking demand prediction.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3454474909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Parking Demand Prediction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machine learning algorithms to forecast parking demand using historical occupancy and traffic data.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accuracy decreases during special events and unexpected traffic conditions.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486346254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&amp; Lee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Parking Pricing Using Demand–Supply Analysis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demand-based pricing model to optimize parking occupancy and improve revenue.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mainly on historical data; ignores real-time weather and event information.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2544651110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Sarker et al.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Parking Management System with IoT Integration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IoT sensors, mobile applications, and cloud services for real-time parking management and monitoring.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deployment cost and limited scalability for large metropolitan cities.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2565952216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Mabrouk et al.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Parking Demand Forecasting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Utilized deep learning models to predict parking demand and recommend optimal pricing strategies.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and high computational resources for training.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399793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16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9955E0-25BE-2A08-9D34-06370F296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C6758EB7-D7D4-378F-E95F-F64FA45B6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F775249B-F757-6F76-E2F1-D86DA5A9E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36D5DE1-FD0C-8D52-B995-5CD21A6B5755}"/>
              </a:ext>
            </a:extLst>
          </p:cNvPr>
          <p:cNvSpPr txBox="1"/>
          <p:nvPr/>
        </p:nvSpPr>
        <p:spPr>
          <a:xfrm>
            <a:off x="2712720" y="349240"/>
            <a:ext cx="7081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Existing vs. Proposed System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xmlns="" id="{598EF8DB-1DF7-0F90-DDD3-0D230A4DD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686" y="1896684"/>
            <a:ext cx="8242822" cy="4090459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xmlns="" id="{56E08D3D-C104-9F0B-4DC4-D49EAD599852}"/>
              </a:ext>
            </a:extLst>
          </p:cNvPr>
          <p:cNvSpPr/>
          <p:nvPr/>
        </p:nvSpPr>
        <p:spPr>
          <a:xfrm>
            <a:off x="556806" y="2251490"/>
            <a:ext cx="1690448" cy="28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xmlns="" id="{0F5932E2-0F0C-A70B-A41B-2B8487727E1C}"/>
              </a:ext>
            </a:extLst>
          </p:cNvPr>
          <p:cNvSpPr/>
          <p:nvPr/>
        </p:nvSpPr>
        <p:spPr>
          <a:xfrm>
            <a:off x="556806" y="2881792"/>
            <a:ext cx="2368628" cy="132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xmlns="" id="{C14CDA98-B260-E6CB-F341-A9C908C55F72}"/>
              </a:ext>
            </a:extLst>
          </p:cNvPr>
          <p:cNvSpPr/>
          <p:nvPr/>
        </p:nvSpPr>
        <p:spPr>
          <a:xfrm>
            <a:off x="9404328" y="2251490"/>
            <a:ext cx="5269364" cy="28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xmlns="" id="{128F2A8B-140B-7F16-B59A-891944C753A7}"/>
              </a:ext>
            </a:extLst>
          </p:cNvPr>
          <p:cNvSpPr/>
          <p:nvPr/>
        </p:nvSpPr>
        <p:spPr>
          <a:xfrm>
            <a:off x="9404328" y="2881792"/>
            <a:ext cx="2230866" cy="132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44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5AA6A5-A1E9-9380-C08F-A47E61F3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6C22D697-DB58-66EE-740C-ED4DD848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B24F0DBE-F8C9-75A7-DE95-C990F251B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1AE8E35-6735-A386-E05C-97B7E713E51A}"/>
              </a:ext>
            </a:extLst>
          </p:cNvPr>
          <p:cNvSpPr txBox="1"/>
          <p:nvPr/>
        </p:nvSpPr>
        <p:spPr>
          <a:xfrm>
            <a:off x="2834640" y="430090"/>
            <a:ext cx="7494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System Requirements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xmlns="" id="{9FD65419-9583-3373-9EAD-3AD375F369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899291" y="2387559"/>
            <a:ext cx="354360" cy="35436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xmlns="" id="{002FB660-2453-E166-C677-43F3CBB0D7FD}"/>
              </a:ext>
            </a:extLst>
          </p:cNvPr>
          <p:cNvSpPr/>
          <p:nvPr/>
        </p:nvSpPr>
        <p:spPr>
          <a:xfrm>
            <a:off x="1899291" y="291909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Functional Requirements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xmlns="" id="{0990745F-C088-3E11-E4AB-B6FB028D46C3}"/>
              </a:ext>
            </a:extLst>
          </p:cNvPr>
          <p:cNvSpPr/>
          <p:nvPr/>
        </p:nvSpPr>
        <p:spPr>
          <a:xfrm>
            <a:off x="1899291" y="3225610"/>
            <a:ext cx="2599134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Real-time demand prediction from live sensor feeds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Automated dynamic price adjustment per zone/lot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User notifications via mobile app / display boards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xmlns="" id="{6FAD597D-2B8C-B956-FB26-E3B7C5F70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95322" y="2387559"/>
            <a:ext cx="354360" cy="35436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xmlns="" id="{6FB6A556-E66C-7BEC-6601-9CB9070690FD}"/>
              </a:ext>
            </a:extLst>
          </p:cNvPr>
          <p:cNvSpPr/>
          <p:nvPr/>
        </p:nvSpPr>
        <p:spPr>
          <a:xfrm>
            <a:off x="4995322" y="291909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Non-Functional Requirements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xmlns="" id="{12F3DE90-73AB-6C1F-FF37-6F99FE0CC79D}"/>
              </a:ext>
            </a:extLst>
          </p:cNvPr>
          <p:cNvSpPr/>
          <p:nvPr/>
        </p:nvSpPr>
        <p:spPr>
          <a:xfrm>
            <a:off x="4995322" y="3225610"/>
            <a:ext cx="2599134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Scalable architecture supporting N+ parking zones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System latency &lt; 5 seconds end-to-end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99.5% uptime SLA for production deployment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xmlns="" id="{53E60AF4-230F-F7CA-26E3-5B14142EF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263479" y="2387559"/>
            <a:ext cx="354360" cy="354360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xmlns="" id="{B4FB5C9F-E1D7-E2C9-6818-2D392D0B30E7}"/>
              </a:ext>
            </a:extLst>
          </p:cNvPr>
          <p:cNvSpPr/>
          <p:nvPr/>
        </p:nvSpPr>
        <p:spPr>
          <a:xfrm>
            <a:off x="8263479" y="290717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Hardware &amp; Software Stack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xmlns="" id="{8921BF3B-3291-8F28-FADB-02292E953A31}"/>
              </a:ext>
            </a:extLst>
          </p:cNvPr>
          <p:cNvSpPr/>
          <p:nvPr/>
        </p:nvSpPr>
        <p:spPr>
          <a:xfrm>
            <a:off x="8263479" y="3225610"/>
            <a:ext cx="2599134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Hardware: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[Sensors, edge devices, servers, IoT gateways]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ML Frameworks: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[TensorFlow, scikit-learn, PyTorch]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Databases: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 PostgreSQL, InfluxDB, Redis]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Data Sources: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[Occupancy feeds, traffic APIs, weather data]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37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DD202C1-F932-4CB6-813E-AA1F3A56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6A78627-44E2-E639-283B-7A2181756CEE}"/>
              </a:ext>
            </a:extLst>
          </p:cNvPr>
          <p:cNvSpPr txBox="1"/>
          <p:nvPr/>
        </p:nvSpPr>
        <p:spPr>
          <a:xfrm>
            <a:off x="3172542" y="31846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System Architecture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1AFBD1D3-1636-DAED-FA75-06C1E0D73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C010EE99-0ECC-1D5B-D81B-8BB82270F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BA19242-D6BF-3B76-7FEB-BBD8A0133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" y="1430415"/>
            <a:ext cx="9296400" cy="51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67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3863340" y="437688"/>
            <a:ext cx="6466840" cy="692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Project Planning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xmlns="" id="{C51CAC10-E850-BD02-3A38-D69B7DA4BC4F}"/>
              </a:ext>
            </a:extLst>
          </p:cNvPr>
          <p:cNvSpPr/>
          <p:nvPr/>
        </p:nvSpPr>
        <p:spPr>
          <a:xfrm>
            <a:off x="1718995" y="1817208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Work Breakdown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xmlns="" id="{D7E01E99-917A-E9C6-69BA-701ED48551AD}"/>
              </a:ext>
            </a:extLst>
          </p:cNvPr>
          <p:cNvSpPr/>
          <p:nvPr/>
        </p:nvSpPr>
        <p:spPr>
          <a:xfrm>
            <a:off x="1718995" y="2044841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xmlns="" id="{EA6365E4-7BBA-7A1A-7101-BC6CA2B86700}"/>
              </a:ext>
            </a:extLst>
          </p:cNvPr>
          <p:cNvSpPr/>
          <p:nvPr/>
        </p:nvSpPr>
        <p:spPr>
          <a:xfrm>
            <a:off x="1718995" y="2196125"/>
            <a:ext cx="395704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1" name="Text 4">
            <a:extLst>
              <a:ext uri="{FF2B5EF4-FFF2-40B4-BE49-F238E27FC236}">
                <a16:creationId xmlns:a16="http://schemas.microsoft.com/office/drawing/2014/main" xmlns="" id="{508C4909-2656-67D9-740B-3FD7DB311A8A}"/>
              </a:ext>
            </a:extLst>
          </p:cNvPr>
          <p:cNvSpPr/>
          <p:nvPr/>
        </p:nvSpPr>
        <p:spPr>
          <a:xfrm>
            <a:off x="1718995" y="2273366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Requirements &amp; Research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xmlns="" id="{CEAD846F-7C0C-17DF-6B2A-85D6392444FD}"/>
              </a:ext>
            </a:extLst>
          </p:cNvPr>
          <p:cNvSpPr/>
          <p:nvPr/>
        </p:nvSpPr>
        <p:spPr>
          <a:xfrm>
            <a:off x="1718995" y="2492590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[Timeline —  Weeks 1–3]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6">
            <a:extLst>
              <a:ext uri="{FF2B5EF4-FFF2-40B4-BE49-F238E27FC236}">
                <a16:creationId xmlns:a16="http://schemas.microsoft.com/office/drawing/2014/main" xmlns="" id="{3CAF8803-91B8-14F6-E598-C5C92C3E7C63}"/>
              </a:ext>
            </a:extLst>
          </p:cNvPr>
          <p:cNvSpPr/>
          <p:nvPr/>
        </p:nvSpPr>
        <p:spPr>
          <a:xfrm>
            <a:off x="1718995" y="2764202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7">
            <a:extLst>
              <a:ext uri="{FF2B5EF4-FFF2-40B4-BE49-F238E27FC236}">
                <a16:creationId xmlns:a16="http://schemas.microsoft.com/office/drawing/2014/main" xmlns="" id="{662388B6-86D0-7E8C-FFA6-D4D641FB8C1F}"/>
              </a:ext>
            </a:extLst>
          </p:cNvPr>
          <p:cNvSpPr/>
          <p:nvPr/>
        </p:nvSpPr>
        <p:spPr>
          <a:xfrm>
            <a:off x="1718995" y="2915485"/>
            <a:ext cx="395704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9" name="Text 8">
            <a:extLst>
              <a:ext uri="{FF2B5EF4-FFF2-40B4-BE49-F238E27FC236}">
                <a16:creationId xmlns:a16="http://schemas.microsoft.com/office/drawing/2014/main" xmlns="" id="{23289F3E-E762-5D10-14CA-D2F22EC8F90C}"/>
              </a:ext>
            </a:extLst>
          </p:cNvPr>
          <p:cNvSpPr/>
          <p:nvPr/>
        </p:nvSpPr>
        <p:spPr>
          <a:xfrm>
            <a:off x="1718995" y="2992727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System Design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xmlns="" id="{D140140E-96C6-F1DE-7461-10DBFBBD9FC1}"/>
              </a:ext>
            </a:extLst>
          </p:cNvPr>
          <p:cNvSpPr/>
          <p:nvPr/>
        </p:nvSpPr>
        <p:spPr>
          <a:xfrm>
            <a:off x="1718995" y="3211951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[Timeline —  Weeks 4–6]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xmlns="" id="{001A8939-B469-31A8-006B-B738E17ADC24}"/>
              </a:ext>
            </a:extLst>
          </p:cNvPr>
          <p:cNvSpPr/>
          <p:nvPr/>
        </p:nvSpPr>
        <p:spPr>
          <a:xfrm>
            <a:off x="1718995" y="3483562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11">
            <a:extLst>
              <a:ext uri="{FF2B5EF4-FFF2-40B4-BE49-F238E27FC236}">
                <a16:creationId xmlns:a16="http://schemas.microsoft.com/office/drawing/2014/main" xmlns="" id="{2B9E51A5-53C8-3D16-EF70-F0E81ACDBFD3}"/>
              </a:ext>
            </a:extLst>
          </p:cNvPr>
          <p:cNvSpPr/>
          <p:nvPr/>
        </p:nvSpPr>
        <p:spPr>
          <a:xfrm>
            <a:off x="1718995" y="3634846"/>
            <a:ext cx="395704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7" name="Text 12">
            <a:extLst>
              <a:ext uri="{FF2B5EF4-FFF2-40B4-BE49-F238E27FC236}">
                <a16:creationId xmlns:a16="http://schemas.microsoft.com/office/drawing/2014/main" xmlns="" id="{E25E8811-B84B-242F-CB9D-1D7CF74FAA15}"/>
              </a:ext>
            </a:extLst>
          </p:cNvPr>
          <p:cNvSpPr/>
          <p:nvPr/>
        </p:nvSpPr>
        <p:spPr>
          <a:xfrm>
            <a:off x="1718995" y="3712088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Development &amp; ML Training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 13">
            <a:extLst>
              <a:ext uri="{FF2B5EF4-FFF2-40B4-BE49-F238E27FC236}">
                <a16:creationId xmlns:a16="http://schemas.microsoft.com/office/drawing/2014/main" xmlns="" id="{5AE9DF8B-9FDD-81DE-0961-C1331780C5C1}"/>
              </a:ext>
            </a:extLst>
          </p:cNvPr>
          <p:cNvSpPr/>
          <p:nvPr/>
        </p:nvSpPr>
        <p:spPr>
          <a:xfrm>
            <a:off x="1718995" y="3931312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[Timeline — Weeks 7–14]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xmlns="" id="{0FF476D1-8094-716B-2EB5-169628E09516}"/>
              </a:ext>
            </a:extLst>
          </p:cNvPr>
          <p:cNvSpPr/>
          <p:nvPr/>
        </p:nvSpPr>
        <p:spPr>
          <a:xfrm>
            <a:off x="1718995" y="4202923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Shape 15">
            <a:extLst>
              <a:ext uri="{FF2B5EF4-FFF2-40B4-BE49-F238E27FC236}">
                <a16:creationId xmlns:a16="http://schemas.microsoft.com/office/drawing/2014/main" xmlns="" id="{6C4D3EA6-9B48-0169-AC48-E4291CEFC6D3}"/>
              </a:ext>
            </a:extLst>
          </p:cNvPr>
          <p:cNvSpPr/>
          <p:nvPr/>
        </p:nvSpPr>
        <p:spPr>
          <a:xfrm>
            <a:off x="1718995" y="4354207"/>
            <a:ext cx="395704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5" name="Text 16">
            <a:extLst>
              <a:ext uri="{FF2B5EF4-FFF2-40B4-BE49-F238E27FC236}">
                <a16:creationId xmlns:a16="http://schemas.microsoft.com/office/drawing/2014/main" xmlns="" id="{B29BBC70-4487-D8F7-ED50-65068A443C42}"/>
              </a:ext>
            </a:extLst>
          </p:cNvPr>
          <p:cNvSpPr/>
          <p:nvPr/>
        </p:nvSpPr>
        <p:spPr>
          <a:xfrm>
            <a:off x="1718995" y="4431449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Testing &amp; Validation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 17">
            <a:extLst>
              <a:ext uri="{FF2B5EF4-FFF2-40B4-BE49-F238E27FC236}">
                <a16:creationId xmlns:a16="http://schemas.microsoft.com/office/drawing/2014/main" xmlns="" id="{CB9D36D2-EA29-CC92-9213-D43D259CE590}"/>
              </a:ext>
            </a:extLst>
          </p:cNvPr>
          <p:cNvSpPr/>
          <p:nvPr/>
        </p:nvSpPr>
        <p:spPr>
          <a:xfrm>
            <a:off x="1718995" y="4650672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[Timeline — Weeks 15–18]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 18">
            <a:extLst>
              <a:ext uri="{FF2B5EF4-FFF2-40B4-BE49-F238E27FC236}">
                <a16:creationId xmlns:a16="http://schemas.microsoft.com/office/drawing/2014/main" xmlns="" id="{591ED7BA-0EE4-A352-DA4E-A1C04E87D402}"/>
              </a:ext>
            </a:extLst>
          </p:cNvPr>
          <p:cNvSpPr/>
          <p:nvPr/>
        </p:nvSpPr>
        <p:spPr>
          <a:xfrm>
            <a:off x="1718995" y="4922284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hape 19">
            <a:extLst>
              <a:ext uri="{FF2B5EF4-FFF2-40B4-BE49-F238E27FC236}">
                <a16:creationId xmlns:a16="http://schemas.microsoft.com/office/drawing/2014/main" xmlns="" id="{3013009D-9DD5-7B3B-3795-140023D3D752}"/>
              </a:ext>
            </a:extLst>
          </p:cNvPr>
          <p:cNvSpPr/>
          <p:nvPr/>
        </p:nvSpPr>
        <p:spPr>
          <a:xfrm>
            <a:off x="1718995" y="5073568"/>
            <a:ext cx="395704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3" name="Text 20">
            <a:extLst>
              <a:ext uri="{FF2B5EF4-FFF2-40B4-BE49-F238E27FC236}">
                <a16:creationId xmlns:a16="http://schemas.microsoft.com/office/drawing/2014/main" xmlns="" id="{727BF3AF-15E7-91D0-1530-8F49C1D57FDE}"/>
              </a:ext>
            </a:extLst>
          </p:cNvPr>
          <p:cNvSpPr/>
          <p:nvPr/>
        </p:nvSpPr>
        <p:spPr>
          <a:xfrm>
            <a:off x="1718995" y="5150809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Deployment &amp;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21">
            <a:extLst>
              <a:ext uri="{FF2B5EF4-FFF2-40B4-BE49-F238E27FC236}">
                <a16:creationId xmlns:a16="http://schemas.microsoft.com/office/drawing/2014/main" xmlns="" id="{3CF59869-10C7-5623-7C1A-29D1259C0BD4}"/>
              </a:ext>
            </a:extLst>
          </p:cNvPr>
          <p:cNvSpPr/>
          <p:nvPr/>
        </p:nvSpPr>
        <p:spPr>
          <a:xfrm>
            <a:off x="1718995" y="5370033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[Timeline —  Weeks 19–22]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22">
            <a:extLst>
              <a:ext uri="{FF2B5EF4-FFF2-40B4-BE49-F238E27FC236}">
                <a16:creationId xmlns:a16="http://schemas.microsoft.com/office/drawing/2014/main" xmlns="" id="{87FDAE8C-2CCC-2DA2-11B5-02FFABCE911E}"/>
              </a:ext>
            </a:extLst>
          </p:cNvPr>
          <p:cNvSpPr/>
          <p:nvPr/>
        </p:nvSpPr>
        <p:spPr>
          <a:xfrm>
            <a:off x="6147078" y="2349491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Key Milestones &amp; Risks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xmlns="" id="{9A4417DF-7644-151E-F8DA-8EBF326772F6}"/>
              </a:ext>
            </a:extLst>
          </p:cNvPr>
          <p:cNvSpPr/>
          <p:nvPr/>
        </p:nvSpPr>
        <p:spPr>
          <a:xfrm>
            <a:off x="5918478" y="2036432"/>
            <a:ext cx="44142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Milestones: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24">
            <a:extLst>
              <a:ext uri="{FF2B5EF4-FFF2-40B4-BE49-F238E27FC236}">
                <a16:creationId xmlns:a16="http://schemas.microsoft.com/office/drawing/2014/main" xmlns="" id="{1C18F98C-8B30-519F-5AFC-4BF4875E78AE}"/>
              </a:ext>
            </a:extLst>
          </p:cNvPr>
          <p:cNvSpPr/>
          <p:nvPr/>
        </p:nvSpPr>
        <p:spPr>
          <a:xfrm>
            <a:off x="6373138" y="2587846"/>
            <a:ext cx="3957042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Prototype ready — [Target date]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ML model trained and validated — [Target date]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Full system deployed — [Target date]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Shape 25">
            <a:extLst>
              <a:ext uri="{FF2B5EF4-FFF2-40B4-BE49-F238E27FC236}">
                <a16:creationId xmlns:a16="http://schemas.microsoft.com/office/drawing/2014/main" xmlns="" id="{1542FF47-D10C-EF55-8EB9-860F416CE938}"/>
              </a:ext>
            </a:extLst>
          </p:cNvPr>
          <p:cNvSpPr/>
          <p:nvPr/>
        </p:nvSpPr>
        <p:spPr>
          <a:xfrm>
            <a:off x="6083439" y="3421856"/>
            <a:ext cx="3957042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15" name="Text 26">
            <a:extLst>
              <a:ext uri="{FF2B5EF4-FFF2-40B4-BE49-F238E27FC236}">
                <a16:creationId xmlns:a16="http://schemas.microsoft.com/office/drawing/2014/main" xmlns="" id="{01835954-D3B2-BE4D-7018-7B865B0A12B2}"/>
              </a:ext>
            </a:extLst>
          </p:cNvPr>
          <p:cNvSpPr/>
          <p:nvPr/>
        </p:nvSpPr>
        <p:spPr>
          <a:xfrm>
            <a:off x="5918478" y="3449269"/>
            <a:ext cx="44142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Key Risks: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 27">
            <a:extLst>
              <a:ext uri="{FF2B5EF4-FFF2-40B4-BE49-F238E27FC236}">
                <a16:creationId xmlns:a16="http://schemas.microsoft.com/office/drawing/2014/main" xmlns="" id="{58895B9C-0366-BDD5-927A-7767E76C59B2}"/>
              </a:ext>
            </a:extLst>
          </p:cNvPr>
          <p:cNvSpPr/>
          <p:nvPr/>
        </p:nvSpPr>
        <p:spPr>
          <a:xfrm>
            <a:off x="6147078" y="3771917"/>
            <a:ext cx="3957042" cy="5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Data Availability: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Sensor coverage gaps or incomplete historical datasets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Model Accuracy: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Overfitting to specific zones; generalization challenges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User Adoption: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Resistance from drivers or operators to dynamic pricing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6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02C45E-2F14-9E43-6382-6AB66795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C7B05D-13DF-26EB-3C68-43E3C14EA285}"/>
              </a:ext>
            </a:extLst>
          </p:cNvPr>
          <p:cNvSpPr txBox="1"/>
          <p:nvPr/>
        </p:nvSpPr>
        <p:spPr>
          <a:xfrm>
            <a:off x="2490954" y="349240"/>
            <a:ext cx="7210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Expected Outcomes &amp; Impact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E701F979-E353-48FE-DB48-4301D5508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74E01D4D-512F-F9FE-9088-B47099BA7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xmlns="" id="{CA6BF162-8140-00E0-78FD-F48EAC03B5B9}"/>
              </a:ext>
            </a:extLst>
          </p:cNvPr>
          <p:cNvSpPr/>
          <p:nvPr/>
        </p:nvSpPr>
        <p:spPr>
          <a:xfrm>
            <a:off x="1562919" y="1967877"/>
            <a:ext cx="2612841" cy="2179051"/>
          </a:xfrm>
          <a:prstGeom prst="roundRect">
            <a:avLst>
              <a:gd name="adj" fmla="val 294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xmlns="" id="{7D5082D8-79EC-3C49-E12A-213E5C83EE07}"/>
              </a:ext>
            </a:extLst>
          </p:cNvPr>
          <p:cNvSpPr/>
          <p:nvPr/>
        </p:nvSpPr>
        <p:spPr>
          <a:xfrm>
            <a:off x="1702742" y="2109283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Deliverables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xmlns="" id="{B9BCB2A4-7F8E-4201-29E6-37CF9362E3DD}"/>
              </a:ext>
            </a:extLst>
          </p:cNvPr>
          <p:cNvSpPr/>
          <p:nvPr/>
        </p:nvSpPr>
        <p:spPr>
          <a:xfrm>
            <a:off x="1842567" y="2397637"/>
            <a:ext cx="2157189" cy="20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Fully functional dynamic pricing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Trained and validated ML demand prediction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Research paper and technical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xmlns="" id="{1D206B13-F4C9-9489-2490-8FB483719D37}"/>
              </a:ext>
            </a:extLst>
          </p:cNvPr>
          <p:cNvSpPr/>
          <p:nvPr/>
        </p:nvSpPr>
        <p:spPr>
          <a:xfrm>
            <a:off x="4527921" y="1985977"/>
            <a:ext cx="2827486" cy="2179051"/>
          </a:xfrm>
          <a:prstGeom prst="roundRect">
            <a:avLst>
              <a:gd name="adj" fmla="val 294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xmlns="" id="{78A6D1B4-9B4D-3C36-210D-8301F9B542CD}"/>
              </a:ext>
            </a:extLst>
          </p:cNvPr>
          <p:cNvSpPr/>
          <p:nvPr/>
        </p:nvSpPr>
        <p:spPr>
          <a:xfrm>
            <a:off x="4761121" y="2037193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Benefits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xmlns="" id="{1B650708-9B9C-B882-E45A-A2126B19C8E7}"/>
              </a:ext>
            </a:extLst>
          </p:cNvPr>
          <p:cNvSpPr/>
          <p:nvPr/>
        </p:nvSpPr>
        <p:spPr>
          <a:xfrm>
            <a:off x="4779419" y="2397637"/>
            <a:ext cx="2434868" cy="171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Reduced parking search time for drivers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Optimized parking revenue for city 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Lower vehicle emissions from reduced cruising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xmlns="" id="{061BB3A9-B376-96AA-C2F2-4B0453D6C1D8}"/>
              </a:ext>
            </a:extLst>
          </p:cNvPr>
          <p:cNvSpPr/>
          <p:nvPr/>
        </p:nvSpPr>
        <p:spPr>
          <a:xfrm>
            <a:off x="1562920" y="4411761"/>
            <a:ext cx="5792488" cy="1291382"/>
          </a:xfrm>
          <a:prstGeom prst="roundRect">
            <a:avLst>
              <a:gd name="adj" fmla="val 439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xmlns="" id="{6E434BE6-4752-EEA1-2F4D-7977DBC351D8}"/>
              </a:ext>
            </a:extLst>
          </p:cNvPr>
          <p:cNvSpPr/>
          <p:nvPr/>
        </p:nvSpPr>
        <p:spPr>
          <a:xfrm>
            <a:off x="1778198" y="4489231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Future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xmlns="" id="{95837236-3F0E-817E-90DC-25B0547FA955}"/>
              </a:ext>
            </a:extLst>
          </p:cNvPr>
          <p:cNvSpPr/>
          <p:nvPr/>
        </p:nvSpPr>
        <p:spPr>
          <a:xfrm>
            <a:off x="1954202" y="4777814"/>
            <a:ext cx="5188278" cy="92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Multi-city and multi-zone deployment at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Integration with autonomous vehicle routing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[Additional extensions — EV charging, public transit linkage]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9F3A2E0-9912-4838-BB9C-D1BE6B155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55" y="1757679"/>
            <a:ext cx="4150545" cy="43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52051E-79B6-8F3C-BBA1-6DC6E476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1,900+ Thank You Stock Photos, Pictures &amp; Royalty-Free Images - iStock |  Thank you card, Appreciation, Gratitude">
            <a:extLst>
              <a:ext uri="{FF2B5EF4-FFF2-40B4-BE49-F238E27FC236}">
                <a16:creationId xmlns:a16="http://schemas.microsoft.com/office/drawing/2014/main" xmlns="" id="{E176D389-9402-A4DC-347D-30B4E668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20684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68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770</Words>
  <Application>Microsoft Office PowerPoint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Raleway</vt:lpstr>
      <vt:lpstr>Raleway Light</vt:lpstr>
      <vt:lpstr>Roboto</vt:lpstr>
      <vt:lpstr>Roboto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</dc:creator>
  <cp:lastModifiedBy>Microsoft account</cp:lastModifiedBy>
  <cp:revision>4</cp:revision>
  <dcterms:modified xsi:type="dcterms:W3CDTF">2026-08-04T08:21:50Z</dcterms:modified>
</cp:coreProperties>
</file>
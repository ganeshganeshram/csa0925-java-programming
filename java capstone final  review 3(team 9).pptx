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71" r:id="rId3"/>
    <p:sldId id="258" r:id="rId4"/>
    <p:sldId id="272" r:id="rId5"/>
    <p:sldId id="273" r:id="rId6"/>
    <p:sldId id="274" r:id="rId7"/>
    <p:sldId id="275" r:id="rId8"/>
    <p:sldId id="259" r:id="rId9"/>
    <p:sldId id="276" r:id="rId10"/>
    <p:sldId id="260" r:id="rId11"/>
    <p:sldId id="263" r:id="rId12"/>
    <p:sldId id="277" r:id="rId13"/>
    <p:sldId id="278" r:id="rId14"/>
    <p:sldId id="279" r:id="rId15"/>
    <p:sldId id="269" r:id="rId16"/>
    <p:sldId id="264" r:id="rId17"/>
    <p:sldId id="267" r:id="rId18"/>
    <p:sldId id="268" r:id="rId19"/>
    <p:sldId id="280" r:id="rId20"/>
    <p:sldId id="281" r:id="rId21"/>
    <p:sldId id="282" r:id="rId22"/>
    <p:sldId id="265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66" r:id="rId33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9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226272D-43E9-2957-D11F-6912D2BD79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EA9786F-84D2-5222-5C64-55C70777D0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DA07D87-6AD8-61E4-7BE5-AC40753C3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2F9D20E-1AFC-727D-21F2-0A7E1A10C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19FFDF2-FCD3-F882-B4E4-6EEB3AA8D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90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5BAB49-B505-5197-E38E-D2A71D129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3343D72-F574-6C42-56F5-8EAFFC725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6B854B7-B8AA-FFD8-38A9-F3F15F56D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E022D05-FCC4-F3D2-0069-B7F9317B9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07B4A01-79F5-7644-8786-4FDC66C4A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926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F23F7F-2625-0CCC-ECCB-112CA3CCA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4DDB35B-C996-9C99-EEA7-D45621E9C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1E706F5-ABA8-A1B1-EE51-2BD362E82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EAA5393-F13F-25AC-59B8-30D682E7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81C022F-9E75-2BE0-D100-C161C24BB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742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45C9AC-F1E6-F8AA-7064-DA6507097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1554B6-17C0-7BCE-C808-9C94B710F9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20DAF4B-FEA8-1DF4-4E36-5CAC3F845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6915D83-BE7A-C5AF-2874-C93339732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D01B4E9-8A9C-7821-D2FE-64B47DB47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7154DE8-1BC6-C2D6-7EED-55642EFC5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396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C1E8BF-2459-AC9E-09AB-FC8150CC0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FAC5E28-DBA1-27B0-29E4-0716E5D56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E966838-714E-366D-415F-2A956650AD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967AD329-31E8-68ED-F219-666EC948AE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D5DF289B-8628-A255-E407-C188870DE3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B040FBA1-8E7E-F6FE-019E-CC29DD3C7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F2EC8CE5-6753-E1CE-35F6-C090FEF78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D19964FB-2686-4C33-6C83-867D9844F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657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445BE8-B43A-6954-F1F1-9DBC2D076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47B2E425-116D-05BF-5309-F84007F44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570C465-83F7-1FA2-58E0-2D02DB6DC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DBE6E03-612C-8D4B-94BD-AA34DCA4E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857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CAF2FB9A-B730-F81B-2583-2F4FDFBA7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F8C9683E-CD6F-F326-BFBC-6A36B852A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EBB181E-6B81-7590-84D8-ABEA545CD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959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56EDF86-587E-FCF6-5627-145F3F2DE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44B6D27-FEFC-8E02-4B65-BCB490CC9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5DE1D3D-1C0A-AD12-E25B-84E83C25BF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C2DCC9D-B109-6C6D-D6AD-4797A334C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D883DCD-BC43-44EF-6CA6-40C161F29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35C16E5-8E54-8633-B566-3359AC94C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573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17F77E5-9BCE-58EE-7266-E689ABEE3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79D4939D-6133-B61A-B716-D02CBDAD6A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6130A17-A73E-4FD6-54AC-1B42D3E018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5972F0C-823C-FF1E-559A-BDFED6D79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9304C36-E6CB-C7B7-84EA-83EB06AC4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14058D4-F8AF-B1A5-33EF-9E2ED1D02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010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109F2E-2854-2548-3A3F-1CA989112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BFFF3DC-696F-E063-46E4-F5458F7543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C6D1ADB-EE7A-6936-3CB2-A031729FF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0EC68DB-2A64-716B-6207-0238FEACD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C354341-7232-011D-112F-E27BAB612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961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728F8364-2EAC-24AF-D391-FF393EFC8A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BFB742B-EF22-DCC2-384F-78F2EB875F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4C8EA3D-B33F-C77A-0897-618721A4D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51D4A-0A1A-4187-BBF6-CB8B7BFF4098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11FA3A-7A6A-910B-9CA1-EAC2D95D9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C15D546-10DD-D6C0-4421-9462E4508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3986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A84AD00C-AC88-1AEC-17F5-67AB25743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294A430-50FF-222E-C9CA-5D825F453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9CFFA90-EC29-DCA3-1B39-865DF93ED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851D4A-0A1A-4187-BBF6-CB8B7BFF4098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891F64A-224C-8E30-20EE-55F1BDF7BC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8FA3804-1F10-C007-8AE2-BAE4F12FB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09C21-2F5B-419A-BF43-86BF7ABC4B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337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9.png"/><Relationship Id="rId7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7.png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1.png"/><Relationship Id="rId7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openxmlformats.org/officeDocument/2006/relationships/image" Target="../media/image27.png"/><Relationship Id="rId10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" descr="SSE-Computer Science and Engineeri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32662" y="127820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"/>
          <p:cNvSpPr txBox="1"/>
          <p:nvPr/>
        </p:nvSpPr>
        <p:spPr>
          <a:xfrm>
            <a:off x="821092" y="1535652"/>
            <a:ext cx="10822200" cy="9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1B1B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Public Parking Pricing System Based on Real-Time Demand Prediction</a:t>
            </a: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"/>
          <p:cNvSpPr txBox="1"/>
          <p:nvPr/>
        </p:nvSpPr>
        <p:spPr>
          <a:xfrm>
            <a:off x="3464601" y="2732575"/>
            <a:ext cx="7669200" cy="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CSA0925-PROGRAMING WITH JAVA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1"/>
          <p:cNvSpPr txBox="1"/>
          <p:nvPr/>
        </p:nvSpPr>
        <p:spPr>
          <a:xfrm>
            <a:off x="-226141" y="4663769"/>
            <a:ext cx="7669200" cy="14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65125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Supervisor</a:t>
            </a: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  <a:p>
            <a:pPr marL="365125" marR="0" lvl="1" indent="0" algn="l" rtl="0">
              <a:spcBef>
                <a:spcPts val="55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Sivasankar C</a:t>
            </a:r>
            <a:endParaRPr/>
          </a:p>
          <a:p>
            <a:pPr marL="365125" marR="0" lvl="1" indent="0" algn="l" rtl="0">
              <a:spcBef>
                <a:spcPts val="55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 of CSE</a:t>
            </a:r>
            <a:endParaRPr/>
          </a:p>
          <a:p>
            <a:pPr marL="365125" marR="0" lvl="1" indent="0" algn="l" rtl="0">
              <a:spcBef>
                <a:spcPts val="55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Saveetha School of Engineering </a:t>
            </a:r>
            <a:endParaRPr/>
          </a:p>
        </p:txBody>
      </p:sp>
      <p:sp>
        <p:nvSpPr>
          <p:cNvPr id="124" name="Google Shape;124;p1"/>
          <p:cNvSpPr txBox="1"/>
          <p:nvPr/>
        </p:nvSpPr>
        <p:spPr>
          <a:xfrm>
            <a:off x="7708382" y="4272824"/>
            <a:ext cx="76692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65125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Scholar</a:t>
            </a:r>
            <a:endParaRPr/>
          </a:p>
          <a:p>
            <a:pPr marL="365125" marR="0" lvl="1" indent="0" algn="l" rtl="0">
              <a:spcBef>
                <a:spcPts val="55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D. Chand basha(192424218)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125" marR="0" lvl="1" indent="0" algn="l" rtl="0">
              <a:spcBef>
                <a:spcPts val="55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Ganeshram. M(192321060)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125" marR="0" lvl="1" indent="0" algn="l" rtl="0">
              <a:spcBef>
                <a:spcPts val="55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Monish. S(192311132)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1" indent="0" algn="l" rtl="0">
              <a:spcBef>
                <a:spcPts val="55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Saveetha School of Engineering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718807" y="45720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Project Overview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58952" y="1856232"/>
            <a:ext cx="566928" cy="566928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9" name="Image 0" descr="/home/claude/icons/buil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353" y="2003633"/>
            <a:ext cx="272125" cy="27212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90472" y="18562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Domain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58952" y="2468880"/>
            <a:ext cx="4837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Smart-city transportation and intelligent public parking management using AI- and data-driven urban mobility techniques.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7220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28232" y="1856232"/>
            <a:ext cx="566928" cy="566928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14" name="Image 1" descr="/home/claude/icons/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633" y="2003633"/>
            <a:ext cx="272125" cy="2721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59752" y="18562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428232" y="2468880"/>
            <a:ext cx="4837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predicts real-time parking demand and dynamically adjusts hourly parking prices to balance occupancy across zones.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02920" y="38404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58952" y="4096512"/>
            <a:ext cx="566928" cy="566928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19" name="Image 2" descr="/home/claude/icons/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353" y="4243913"/>
            <a:ext cx="272125" cy="27212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90472" y="40965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758952" y="4709160"/>
            <a:ext cx="4837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vehicle owners searching for parking, and parking facility operators managing pricing and availability.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172200" y="38404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28232" y="4096512"/>
            <a:ext cx="566928" cy="566928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24" name="Image 3" descr="/home/claude/icons/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5633" y="4243913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159752" y="40965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Purpose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6428232" y="4709160"/>
            <a:ext cx="4837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parking search time and traffic congestion while improving space utilization and revenue for city authorities.</a:t>
            </a:r>
            <a:endParaRPr lang="en-US" sz="1250" dirty="0"/>
          </a:p>
        </p:txBody>
      </p:sp>
      <p:pic>
        <p:nvPicPr>
          <p:cNvPr id="27" name="Picture 26" descr="Saveetha School of Engineering, Chennai, Tamil Nadu - Careerindia">
            <a:extLst>
              <a:ext uri="{FF2B5EF4-FFF2-40B4-BE49-F238E27FC236}">
                <a16:creationId xmlns:a16="http://schemas.microsoft.com/office/drawing/2014/main" xmlns="" id="{74B6F7EA-49FA-530B-5305-2249941BBE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17" y="137651"/>
            <a:ext cx="982441" cy="129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7" descr="CFP: Conference on Smart &amp; Modernisation Techniques @ Saveetha University,  Chennai [Mar 16-17] : Submit by Jan 8 - NoticeBard | Home">
            <a:extLst>
              <a:ext uri="{FF2B5EF4-FFF2-40B4-BE49-F238E27FC236}">
                <a16:creationId xmlns:a16="http://schemas.microsoft.com/office/drawing/2014/main" xmlns="" id="{7B1E654B-CCC0-3770-B3CA-825E57C74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3931" y="-563092"/>
            <a:ext cx="3052177" cy="253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1330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"/>
          <p:cNvSpPr txBox="1"/>
          <p:nvPr/>
        </p:nvSpPr>
        <p:spPr>
          <a:xfrm>
            <a:off x="3167766" y="377682"/>
            <a:ext cx="71187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800"/>
              <a:buFont typeface="Times New Roman"/>
              <a:buNone/>
            </a:pPr>
            <a:r>
              <a:rPr lang="en-US" sz="4800" b="1" i="0" u="none" strike="noStrike" cap="none" dirty="0">
                <a:solidFill>
                  <a:srgbClr val="1B1B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4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5" name="Google Shape;145;p1" descr="Saveetha School of Engineering, Chennai, Tamil Nadu - Careerin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5937" y="137651"/>
            <a:ext cx="982440" cy="129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04585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2D49F7E-806C-07CA-168A-EC2AD9F8D128}"/>
              </a:ext>
            </a:extLst>
          </p:cNvPr>
          <p:cNvSpPr txBox="1"/>
          <p:nvPr/>
        </p:nvSpPr>
        <p:spPr>
          <a:xfrm>
            <a:off x="1527701" y="1239861"/>
            <a:ext cx="10014857" cy="5444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system that predicts real-time parking demand and dynamically adjusts parking prices to optimize parking utilization and reduce urban congestion.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 / Statistics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Drivers spend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15–30%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urban travel time searching for parking.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pricing often leads to overcrowded parking facilities during peak hours.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Current Systems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pricing does not adapt to changing demand.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allocation of parking spaces.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support for smart city parking management.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Impact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traffic congestion and parking search time.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parking revenue and support for sustainable smart cities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57933" y="59893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 &amp; Need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201400" cy="1078992"/>
          </a:xfrm>
          <a:prstGeom prst="roundRect">
            <a:avLst>
              <a:gd name="adj" fmla="val 6780"/>
            </a:avLst>
          </a:prstGeom>
          <a:solidFill>
            <a:srgbClr val="EAF1FA"/>
          </a:solidFill>
          <a:ln/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911096"/>
            <a:ext cx="640080" cy="64008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9" name="Image 0" descr="/home/claude/icons/ro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2077517"/>
            <a:ext cx="307238" cy="3072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1801368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Congestion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434840" y="1801368"/>
            <a:ext cx="6995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circling in search of parking add avoidable congestion to already busy city streets.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2920" y="2880360"/>
            <a:ext cx="112014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31520" y="3099816"/>
            <a:ext cx="640080" cy="64008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14" name="Image 1" descr="/home/claude/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3266237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54480" y="2990088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Relevance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4434840" y="2990088"/>
            <a:ext cx="6995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Smart-city and intelligent transportation initiatives increasingly rely on real-time, demand-responsive infrastructure.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02920" y="4069080"/>
            <a:ext cx="11201400" cy="1078992"/>
          </a:xfrm>
          <a:prstGeom prst="roundRect">
            <a:avLst>
              <a:gd name="adj" fmla="val 6780"/>
            </a:avLst>
          </a:prstGeom>
          <a:solidFill>
            <a:srgbClr val="EAF1FA"/>
          </a:solidFill>
          <a:ln/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31520" y="4288536"/>
            <a:ext cx="640080" cy="64008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19" name="Image 2" descr="/home/claude/icons/handsha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4454957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54480" y="4178808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Relevance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4434840" y="4178808"/>
            <a:ext cx="6995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Fairer, transparent pricing improves the experience for commuters and supports local business access.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02920" y="5257800"/>
            <a:ext cx="112014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31520" y="5477256"/>
            <a:ext cx="640080" cy="64008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24" name="Image 3" descr="/home/claude/icons/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5643677"/>
            <a:ext cx="307238" cy="30723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54480" y="5367528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Dynamic Pricing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4434840" y="5367528"/>
            <a:ext cx="6995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Adjusting price to real-time demand actively redistributes vehicles toward underused parking capacity.</a:t>
            </a:r>
            <a:endParaRPr lang="en-US" sz="1250" dirty="0"/>
          </a:p>
        </p:txBody>
      </p:sp>
      <p:pic>
        <p:nvPicPr>
          <p:cNvPr id="28" name="Google Shape;145;p1" descr="Saveetha School of Engineering, Chennai, Tamil Nadu - Careerindia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5937" y="137651"/>
            <a:ext cx="982440" cy="129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954251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2808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880360" y="635508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/ Current Practice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92024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Fixed-Price Parking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7240" y="2468880"/>
            <a:ext cx="4800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fees are set once and remain constant regardless of occupancy or time of day.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operators manually review and revise tariffs, typically on a monthly or seasonal basis.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mechanism links live occupancy data to the price a driver is charged.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92024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Static Pricing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583680" y="2468880"/>
            <a:ext cx="4800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adapt to sudden demand spikes from events, weather, or peak commuting hours.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to uneven utilization — some lots overflow while others remain underused.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no real-time visibility for drivers into availability or price before arrival.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integration with broader smart-city traffic management systems.</a:t>
            </a:r>
            <a:endParaRPr lang="en-US" sz="1600" dirty="0"/>
          </a:p>
        </p:txBody>
      </p:sp>
      <p:pic>
        <p:nvPicPr>
          <p:cNvPr id="13" name="Google Shape;145;p1" descr="Saveetha School of Engineering, Chennai, Tamil Nadu - Careerin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5937" y="137651"/>
            <a:ext cx="982440" cy="129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04585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69367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25567" y="612648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/ Knowledge Gap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65836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Gap</a:t>
            </a:r>
            <a:endParaRPr lang="en-US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deployed parking systems monitor occupancy but stop short of linking it to real-time, demand-based pricing.</a:t>
            </a:r>
            <a:endParaRPr lang="en-US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prediction research (see Literature Review) targets forecasting accuracy in isolation, without a connected pricing-and-notification pipeline.</a:t>
            </a:r>
            <a:endParaRPr lang="en-US" dirty="0"/>
          </a:p>
          <a:p>
            <a:pPr marL="0" indent="0">
              <a:lnSpc>
                <a:spcPct val="108000"/>
              </a:lnSpc>
              <a:spcBef>
                <a:spcPts val="800"/>
              </a:spcBef>
              <a:spcAft>
                <a:spcPts val="200"/>
              </a:spcAft>
              <a:buNone/>
            </a:pPr>
            <a:endParaRPr lang="en-US" b="1" dirty="0" smtClean="0">
              <a:solidFill>
                <a:srgbClr val="1B3A6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8000"/>
              </a:lnSpc>
              <a:spcBef>
                <a:spcPts val="800"/>
              </a:spcBef>
              <a:spcAft>
                <a:spcPts val="200"/>
              </a:spcAft>
              <a:buNone/>
            </a:pPr>
            <a:r>
              <a:rPr lang="en-US" b="1" dirty="0" smtClean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</a:t>
            </a:r>
            <a:r>
              <a:rPr lang="en-US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Improvement</a:t>
            </a:r>
            <a:endParaRPr lang="en-US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live occupancy sensing, short-term demand prediction, and automated tariff adjustment into a single, end-to-end system.</a:t>
            </a:r>
            <a:endParaRPr lang="en-US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loop by notifying drivers of price and availability before they arrive, rather than after the fact.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7452360" y="1691640"/>
            <a:ext cx="4251960" cy="4480560"/>
          </a:xfrm>
          <a:prstGeom prst="roundRect">
            <a:avLst>
              <a:gd name="adj" fmla="val 1720"/>
            </a:avLst>
          </a:prstGeom>
          <a:solidFill>
            <a:srgbClr val="1B3A63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2057400"/>
            <a:ext cx="685800" cy="685800"/>
          </a:xfrm>
          <a:prstGeom prst="ellipse">
            <a:avLst/>
          </a:prstGeom>
          <a:solidFill>
            <a:srgbClr val="E8892E"/>
          </a:solidFill>
          <a:ln/>
        </p:spPr>
      </p:sp>
      <p:pic>
        <p:nvPicPr>
          <p:cNvPr id="10" name="Image 0" descr="/home/claude/icons/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0708" y="2235708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0" y="29260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in One Line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0" y="3337560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“Demand prediction” and “dynamic pricing” exist separately in prior work — rarely as one connected, real-time system.</a:t>
            </a:r>
            <a:endParaRPr lang="en-US" sz="1600" dirty="0"/>
          </a:p>
        </p:txBody>
      </p:sp>
      <p:pic>
        <p:nvPicPr>
          <p:cNvPr id="13" name="Google Shape;145;p1" descr="Saveetha School of Engineering, Chennai, Tamil Nadu - Careerin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5937" y="137651"/>
            <a:ext cx="982440" cy="129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04585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4001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46804" y="53035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64108" y="1932656"/>
            <a:ext cx="11155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Public Parking Pricing </a:t>
            </a:r>
            <a:r>
              <a:rPr lang="en-US" b="1" dirty="0" smtClean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platform that senses live occupancy, predicts short-term demand, and recalculates parking price automatically.</a:t>
            </a:r>
            <a:endParaRPr lang="en-US" dirty="0"/>
          </a:p>
          <a:p>
            <a:pPr marL="0" indent="0">
              <a:lnSpc>
                <a:spcPct val="108000"/>
              </a:lnSpc>
              <a:spcBef>
                <a:spcPts val="800"/>
              </a:spcBef>
              <a:spcAft>
                <a:spcPts val="200"/>
              </a:spcAft>
              <a:buNone/>
            </a:pPr>
            <a:endParaRPr lang="en-US" b="1" dirty="0" smtClean="0">
              <a:solidFill>
                <a:srgbClr val="1B3A6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8000"/>
              </a:lnSpc>
              <a:spcBef>
                <a:spcPts val="800"/>
              </a:spcBef>
              <a:spcAft>
                <a:spcPts val="200"/>
              </a:spcAft>
              <a:buNone/>
            </a:pPr>
            <a:r>
              <a:rPr lang="en-US" b="1" dirty="0" smtClean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</a:t>
            </a:r>
            <a:r>
              <a:rPr lang="en-US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Closes the Gap</a:t>
            </a:r>
            <a:endParaRPr lang="en-US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prediction directly to a pricing engine, instead of treating them as separate research problems.</a:t>
            </a:r>
            <a:endParaRPr lang="en-US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price and availability to drivers before arrival through the notification module.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02920" y="4488111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9868" y="4664951"/>
            <a:ext cx="512064" cy="512064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10" name="Image 0" descr="/home/claude/icons/wif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005" y="4798088"/>
            <a:ext cx="245791" cy="24579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5146479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496312" y="4971275"/>
            <a:ext cx="329184" cy="219456"/>
          </a:xfrm>
          <a:prstGeom prst="chevron">
            <a:avLst/>
          </a:prstGeom>
          <a:solidFill>
            <a:srgbClr val="AEB9C7"/>
          </a:solidFill>
          <a:ln/>
        </p:spPr>
      </p:sp>
      <p:sp>
        <p:nvSpPr>
          <p:cNvPr id="13" name="Shape 10"/>
          <p:cNvSpPr/>
          <p:nvPr/>
        </p:nvSpPr>
        <p:spPr>
          <a:xfrm>
            <a:off x="2852928" y="4488111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79876" y="4664951"/>
            <a:ext cx="512064" cy="512064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15" name="Image 1" descr="/home/claude/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3013" y="4798088"/>
            <a:ext cx="245791" cy="24579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852928" y="5146479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846320" y="4971275"/>
            <a:ext cx="329184" cy="219456"/>
          </a:xfrm>
          <a:prstGeom prst="chevron">
            <a:avLst/>
          </a:prstGeom>
          <a:solidFill>
            <a:srgbClr val="AEB9C7"/>
          </a:solidFill>
          <a:ln/>
        </p:spPr>
      </p:sp>
      <p:sp>
        <p:nvSpPr>
          <p:cNvPr id="18" name="Shape 14"/>
          <p:cNvSpPr/>
          <p:nvPr/>
        </p:nvSpPr>
        <p:spPr>
          <a:xfrm>
            <a:off x="5202936" y="4488111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1B3A63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929884" y="4664951"/>
            <a:ext cx="512064" cy="512064"/>
          </a:xfrm>
          <a:prstGeom prst="ellipse">
            <a:avLst/>
          </a:prstGeom>
          <a:solidFill>
            <a:srgbClr val="E8892E"/>
          </a:solidFill>
          <a:ln/>
        </p:spPr>
      </p:sp>
      <p:pic>
        <p:nvPicPr>
          <p:cNvPr id="20" name="Image 2" descr="/home/claude/icons/rup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3021" y="4798088"/>
            <a:ext cx="245791" cy="24579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02936" y="5146479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7196328" y="4971275"/>
            <a:ext cx="329184" cy="219456"/>
          </a:xfrm>
          <a:prstGeom prst="chevron">
            <a:avLst/>
          </a:prstGeom>
          <a:solidFill>
            <a:srgbClr val="AEB9C7"/>
          </a:solidFill>
          <a:ln/>
        </p:spPr>
      </p:sp>
      <p:sp>
        <p:nvSpPr>
          <p:cNvPr id="23" name="Shape 18"/>
          <p:cNvSpPr/>
          <p:nvPr/>
        </p:nvSpPr>
        <p:spPr>
          <a:xfrm>
            <a:off x="7552944" y="4488111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279892" y="4664951"/>
            <a:ext cx="512064" cy="512064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25" name="Image 3" descr="/home/claude/icons/be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3029" y="4798088"/>
            <a:ext cx="245791" cy="24579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552944" y="5146479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9546336" y="4971275"/>
            <a:ext cx="329184" cy="219456"/>
          </a:xfrm>
          <a:prstGeom prst="chevron">
            <a:avLst/>
          </a:prstGeom>
          <a:solidFill>
            <a:srgbClr val="AEB9C7"/>
          </a:solidFill>
          <a:ln/>
        </p:spPr>
      </p:sp>
      <p:sp>
        <p:nvSpPr>
          <p:cNvPr id="28" name="Shape 22"/>
          <p:cNvSpPr/>
          <p:nvPr/>
        </p:nvSpPr>
        <p:spPr>
          <a:xfrm>
            <a:off x="9902952" y="4488111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629900" y="4664951"/>
            <a:ext cx="512064" cy="512064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30" name="Image 4" descr="/home/claude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3037" y="4798088"/>
            <a:ext cx="245791" cy="24579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902952" y="5146479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502920" y="49377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pic>
        <p:nvPicPr>
          <p:cNvPr id="33" name="Google Shape;145;p1" descr="Saveetha School of Engineering, Chennai, Tamil Nadu - Careerindia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75937" y="146040"/>
            <a:ext cx="982440" cy="129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04585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6846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F9A3D8F-8FB4-6280-E26A-DBF5C8BCF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D8EEA2D-0F05-458B-ED7B-8D7D9DBC12CF}"/>
              </a:ext>
            </a:extLst>
          </p:cNvPr>
          <p:cNvSpPr txBox="1"/>
          <p:nvPr/>
        </p:nvSpPr>
        <p:spPr>
          <a:xfrm>
            <a:off x="3156155" y="377639"/>
            <a:ext cx="6096000" cy="812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</a:pPr>
            <a:r>
              <a:rPr lang="en-US" sz="48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Project Objectives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Saveetha School of Engineering, Chennai, Tamil Nadu - Careerindia">
            <a:extLst>
              <a:ext uri="{FF2B5EF4-FFF2-40B4-BE49-F238E27FC236}">
                <a16:creationId xmlns:a16="http://schemas.microsoft.com/office/drawing/2014/main" xmlns="" id="{CE9DF4B5-3D6E-4C23-A7A7-F8525BE78A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17" y="137651"/>
            <a:ext cx="982441" cy="129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CFP: Conference on Smart &amp; Modernisation Techniques @ Saveetha University,  Chennai [Mar 16-17] : Submit by Jan 8 - NoticeBard | Home">
            <a:extLst>
              <a:ext uri="{FF2B5EF4-FFF2-40B4-BE49-F238E27FC236}">
                <a16:creationId xmlns:a16="http://schemas.microsoft.com/office/drawing/2014/main" xmlns="" id="{ECA8A0D2-8404-F380-B02B-13AD7A800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2173" y="-563092"/>
            <a:ext cx="3052177" cy="253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xmlns="" id="{E9FAB2A7-1E62-A39B-3E6F-13C2D3D1D5E5}"/>
              </a:ext>
            </a:extLst>
          </p:cNvPr>
          <p:cNvSpPr/>
          <p:nvPr/>
        </p:nvSpPr>
        <p:spPr>
          <a:xfrm>
            <a:off x="1506295" y="1732819"/>
            <a:ext cx="8320166" cy="624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600" b="1" dirty="0">
                <a:solidFill>
                  <a:srgbClr val="3C3939"/>
                </a:solidFill>
                <a:latin typeface="Times New Roman" panose="02020603050405020304" pitchFamily="18" charset="0"/>
                <a:ea typeface="Roboto Bold" pitchFamily="34" charset="-122"/>
                <a:cs typeface="Times New Roman" panose="02020603050405020304" pitchFamily="18" charset="0"/>
              </a:rPr>
              <a:t>Primary Goal:</a:t>
            </a: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IN" sz="1400" dirty="0"/>
              <a:t>To develop a Dynamic Public Parking Pricing System that predicts real-time parking demand and dynamically adjusts parking prices.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xmlns="" id="{916FCD7B-DBA2-7417-D963-B3F718CD23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545588" y="2858329"/>
            <a:ext cx="2622724" cy="1990683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xmlns="" id="{1DCAD368-1C0D-E7E5-FAD0-B77B74236882}"/>
              </a:ext>
            </a:extLst>
          </p:cNvPr>
          <p:cNvSpPr/>
          <p:nvPr/>
        </p:nvSpPr>
        <p:spPr>
          <a:xfrm>
            <a:off x="2716887" y="2982532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1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xmlns="" id="{5E34CCEE-1192-AFA9-195D-C0EA73296D64}"/>
              </a:ext>
            </a:extLst>
          </p:cNvPr>
          <p:cNvSpPr/>
          <p:nvPr/>
        </p:nvSpPr>
        <p:spPr>
          <a:xfrm>
            <a:off x="1672634" y="3438103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Objective 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xmlns="" id="{129A9C90-1412-A59D-96CF-8CABF3D8CAD9}"/>
              </a:ext>
            </a:extLst>
          </p:cNvPr>
          <p:cNvSpPr/>
          <p:nvPr/>
        </p:nvSpPr>
        <p:spPr>
          <a:xfrm>
            <a:off x="1706397" y="3849323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[e.g., Achieve ≥90% demand prediction accuracy using historical and real-time occupancy data]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xmlns="" id="{0F3E57DB-3712-DF11-02FA-49C0982277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248678" y="2853981"/>
            <a:ext cx="2622724" cy="1990683"/>
          </a:xfrm>
          <a:prstGeom prst="rect">
            <a:avLst/>
          </a:prstGeom>
        </p:spPr>
      </p:pic>
      <p:sp>
        <p:nvSpPr>
          <p:cNvPr id="19" name="Text 5">
            <a:extLst>
              <a:ext uri="{FF2B5EF4-FFF2-40B4-BE49-F238E27FC236}">
                <a16:creationId xmlns:a16="http://schemas.microsoft.com/office/drawing/2014/main" xmlns="" id="{AFDBEB48-8681-36D2-2AC5-79014965AD6D}"/>
              </a:ext>
            </a:extLst>
          </p:cNvPr>
          <p:cNvSpPr/>
          <p:nvPr/>
        </p:nvSpPr>
        <p:spPr>
          <a:xfrm>
            <a:off x="5347439" y="2982530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2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xmlns="" id="{97771177-C594-4B02-C2F9-D8C58875A1A9}"/>
              </a:ext>
            </a:extLst>
          </p:cNvPr>
          <p:cNvSpPr/>
          <p:nvPr/>
        </p:nvSpPr>
        <p:spPr>
          <a:xfrm>
            <a:off x="4409487" y="3438103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Objective 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xmlns="" id="{BE80509A-A909-1A77-BD60-492E70CC7EF9}"/>
              </a:ext>
            </a:extLst>
          </p:cNvPr>
          <p:cNvSpPr/>
          <p:nvPr/>
        </p:nvSpPr>
        <p:spPr>
          <a:xfrm>
            <a:off x="4451827" y="3962730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[e.g., Reduce average parking search time by ≥25% within the target zone]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Image 2" descr="preencoded.png">
            <a:extLst>
              <a:ext uri="{FF2B5EF4-FFF2-40B4-BE49-F238E27FC236}">
                <a16:creationId xmlns:a16="http://schemas.microsoft.com/office/drawing/2014/main" xmlns="" id="{158ECC28-E4A7-F78C-5C59-DBA894DE63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913742" y="2858327"/>
            <a:ext cx="2622724" cy="1990683"/>
          </a:xfrm>
          <a:prstGeom prst="rect">
            <a:avLst/>
          </a:prstGeom>
        </p:spPr>
      </p:pic>
      <p:sp>
        <p:nvSpPr>
          <p:cNvPr id="27" name="Text 8">
            <a:extLst>
              <a:ext uri="{FF2B5EF4-FFF2-40B4-BE49-F238E27FC236}">
                <a16:creationId xmlns:a16="http://schemas.microsoft.com/office/drawing/2014/main" xmlns="" id="{FE5C6461-5949-D7AB-344B-336D12CC9DD9}"/>
              </a:ext>
            </a:extLst>
          </p:cNvPr>
          <p:cNvSpPr/>
          <p:nvPr/>
        </p:nvSpPr>
        <p:spPr>
          <a:xfrm>
            <a:off x="8012503" y="2982531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3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xmlns="" id="{FF294833-5AF6-1A3E-237A-F3BADFE8A563}"/>
              </a:ext>
            </a:extLst>
          </p:cNvPr>
          <p:cNvSpPr/>
          <p:nvPr/>
        </p:nvSpPr>
        <p:spPr>
          <a:xfrm>
            <a:off x="7067707" y="3438103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Objective 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xmlns="" id="{CA1651B8-E048-BFF7-6128-32A5CFA08D28}"/>
              </a:ext>
            </a:extLst>
          </p:cNvPr>
          <p:cNvSpPr/>
          <p:nvPr/>
        </p:nvSpPr>
        <p:spPr>
          <a:xfrm>
            <a:off x="7182987" y="3879957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[e.g., Deploy a responsive user notification system with latency under 5 seconds]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xmlns="" id="{D91E2766-8F27-AE1A-B8A8-834D287CD753}"/>
              </a:ext>
            </a:extLst>
          </p:cNvPr>
          <p:cNvSpPr/>
          <p:nvPr/>
        </p:nvSpPr>
        <p:spPr>
          <a:xfrm>
            <a:off x="1484159" y="5386978"/>
            <a:ext cx="8151763" cy="780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600" b="1" dirty="0">
                <a:solidFill>
                  <a:srgbClr val="3C3939"/>
                </a:solidFill>
                <a:latin typeface="Times New Roman" panose="02020603050405020304" pitchFamily="18" charset="0"/>
                <a:ea typeface="Roboto Bold" pitchFamily="34" charset="-122"/>
                <a:cs typeface="Times New Roman" panose="02020603050405020304" pitchFamily="18" charset="0"/>
              </a:rPr>
              <a:t>Scope:</a:t>
            </a: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IN" sz="1400" dirty="0"/>
              <a:t>The project focuses on implementing a dynamic parking pricing system that uses real-time and historical parking data to predict demand and adjust parking fees accordingly.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1258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177540" y="59893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&amp; Specifications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874520"/>
            <a:ext cx="502920" cy="50292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9" name="Image 0" descr="/home/claude/icons/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279" y="2005279"/>
            <a:ext cx="241402" cy="24140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8470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31520" y="251460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demand prediction from live occupancy feeds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dynamic price adjustment per zone / lot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notifications via mobile app or display boards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72200" y="16459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00800" y="1874520"/>
            <a:ext cx="502920" cy="50292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14" name="Image 1" descr="/home/claude/icons/gau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559" y="2005279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40880" y="18470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400800" y="251460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 supporting multiple parking zones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latency target under [Insert] seconds end-to-end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High-availability uptime target for production deployment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02920" y="40233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31520" y="4251960"/>
            <a:ext cx="502920" cy="502920"/>
          </a:xfrm>
          <a:prstGeom prst="ellipse">
            <a:avLst/>
          </a:prstGeom>
          <a:solidFill>
            <a:srgbClr val="E8892E"/>
          </a:solidFill>
          <a:ln/>
        </p:spPr>
      </p:sp>
      <p:pic>
        <p:nvPicPr>
          <p:cNvPr id="19" name="Image 2" descr="/home/claude/icons/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79" y="4382719"/>
            <a:ext cx="241402" cy="24140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71600" y="422452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Requirements</a:t>
            </a: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731520" y="489204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sensors / IoT gateways at parking entry points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devices or on-site controllers for local aggregation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or cloud compute for prediction and pricing services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172200" y="40233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00800" y="4251960"/>
            <a:ext cx="502920" cy="502920"/>
          </a:xfrm>
          <a:prstGeom prst="ellipse">
            <a:avLst/>
          </a:prstGeom>
          <a:solidFill>
            <a:srgbClr val="E8892E"/>
          </a:solidFill>
          <a:ln/>
        </p:spPr>
      </p:sp>
      <p:pic>
        <p:nvPicPr>
          <p:cNvPr id="24" name="Image 3" descr="/home/claude/icons/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1559" y="4382719"/>
            <a:ext cx="241402" cy="24140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40880" y="422452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</a:t>
            </a: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6400800" y="489204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Java-based backend services (per course scope: CSA0925)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for occupancy, pricing, and booking records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and API layer for the client application</a:t>
            </a:r>
            <a:endParaRPr lang="en-US" sz="1400" dirty="0"/>
          </a:p>
        </p:txBody>
      </p:sp>
      <p:pic>
        <p:nvPicPr>
          <p:cNvPr id="27" name="Google Shape;145;p1" descr="Saveetha School of Engineering, Chennai, Tamil Nadu - Careerindia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5937" y="137651"/>
            <a:ext cx="982440" cy="129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04585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4614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704AD7D-9370-8AF6-DB30-C3AFCD11B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251F39E-ED21-A113-26BD-164A1E87E07D}"/>
              </a:ext>
            </a:extLst>
          </p:cNvPr>
          <p:cNvSpPr txBox="1"/>
          <p:nvPr/>
        </p:nvSpPr>
        <p:spPr>
          <a:xfrm>
            <a:off x="2924114" y="377639"/>
            <a:ext cx="6096000" cy="812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</a:pPr>
            <a:r>
              <a:rPr lang="en-US" sz="48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Literature Survey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6" descr="Saveetha School of Engineering, Chennai, Tamil Nadu - Careerindia">
            <a:extLst>
              <a:ext uri="{FF2B5EF4-FFF2-40B4-BE49-F238E27FC236}">
                <a16:creationId xmlns:a16="http://schemas.microsoft.com/office/drawing/2014/main" xmlns="" id="{960A588A-8B62-3417-089E-6F070B5AD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17" y="137651"/>
            <a:ext cx="982441" cy="129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CFP: Conference on Smart &amp; Modernisation Techniques @ Saveetha University,  Chennai [Mar 16-17] : Submit by Jan 8 - NoticeBard | Home">
            <a:extLst>
              <a:ext uri="{FF2B5EF4-FFF2-40B4-BE49-F238E27FC236}">
                <a16:creationId xmlns:a16="http://schemas.microsoft.com/office/drawing/2014/main" xmlns="" id="{2B538B36-E28C-27EA-57BC-B901126D5D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2173" y="-563092"/>
            <a:ext cx="3052177" cy="253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xmlns="" id="{87990424-25A9-1D0D-7E1E-BD1CF753E8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080950"/>
              </p:ext>
            </p:extLst>
          </p:nvPr>
        </p:nvGraphicFramePr>
        <p:xfrm>
          <a:off x="985520" y="1634066"/>
          <a:ext cx="10180320" cy="4447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440">
                  <a:extLst>
                    <a:ext uri="{9D8B030D-6E8A-4147-A177-3AD203B41FA5}">
                      <a16:colId xmlns:a16="http://schemas.microsoft.com/office/drawing/2014/main" xmlns="" val="365471456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xmlns="" val="4120865298"/>
                    </a:ext>
                  </a:extLst>
                </a:gridCol>
                <a:gridCol w="1290320">
                  <a:extLst>
                    <a:ext uri="{9D8B030D-6E8A-4147-A177-3AD203B41FA5}">
                      <a16:colId xmlns:a16="http://schemas.microsoft.com/office/drawing/2014/main" xmlns="" val="248443119"/>
                    </a:ext>
                  </a:extLst>
                </a:gridCol>
                <a:gridCol w="2306320">
                  <a:extLst>
                    <a:ext uri="{9D8B030D-6E8A-4147-A177-3AD203B41FA5}">
                      <a16:colId xmlns:a16="http://schemas.microsoft.com/office/drawing/2014/main" xmlns="" val="143880915"/>
                    </a:ext>
                  </a:extLst>
                </a:gridCol>
                <a:gridCol w="2245360">
                  <a:extLst>
                    <a:ext uri="{9D8B030D-6E8A-4147-A177-3AD203B41FA5}">
                      <a16:colId xmlns:a16="http://schemas.microsoft.com/office/drawing/2014/main" xmlns="" val="3693560180"/>
                    </a:ext>
                  </a:extLst>
                </a:gridCol>
                <a:gridCol w="2265680">
                  <a:extLst>
                    <a:ext uri="{9D8B030D-6E8A-4147-A177-3AD203B41FA5}">
                      <a16:colId xmlns:a16="http://schemas.microsoft.com/office/drawing/2014/main" xmlns="" val="2477731618"/>
                    </a:ext>
                  </a:extLst>
                </a:gridCol>
              </a:tblGrid>
              <a:tr h="6251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A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A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Contribution / Findings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 / Limitation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extLst>
                  <a:ext uri="{0D108BD9-81ED-4DB2-BD59-A6C34878D82A}">
                    <a16:rowId xmlns:a16="http://schemas.microsoft.com/office/drawing/2014/main" xmlns="" val="638086948"/>
                  </a:ext>
                </a:extLst>
              </a:tr>
              <a:tr h="6251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A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 &amp; Shah</a:t>
                      </a: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IoT-Based Smart Parking Monitoring System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an IoT-enabled parking monitoring system using occupancy sensors and cloud connectivity for real-time parking availability.</a:t>
                      </a: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support dynamic pricing or parking demand prediction.</a:t>
                      </a:r>
                    </a:p>
                  </a:txBody>
                  <a:tcPr marL="22088" marR="22088" marT="11044" marB="11044" anchor="ctr"/>
                </a:tc>
                <a:extLst>
                  <a:ext uri="{0D108BD9-81ED-4DB2-BD59-A6C34878D82A}">
                    <a16:rowId xmlns:a16="http://schemas.microsoft.com/office/drawing/2014/main" xmlns="" val="3454474909"/>
                  </a:ext>
                </a:extLst>
              </a:tr>
              <a:tr h="6251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A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Zhang et al.</a:t>
                      </a:r>
                      <a:endParaRPr lang="en-A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Learning-Based Parking Demand Prediction</a:t>
                      </a:r>
                      <a:endParaRPr lang="en-A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Applied machine learning algorithms to forecast parking demand using historical occupancy and traffic data.</a:t>
                      </a:r>
                      <a:endParaRPr lang="en-A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Prediction accuracy decreases during special events and unexpected traffic conditions.</a:t>
                      </a:r>
                    </a:p>
                  </a:txBody>
                  <a:tcPr marL="22088" marR="22088" marT="11044" marB="11044" anchor="ctr"/>
                </a:tc>
                <a:extLst>
                  <a:ext uri="{0D108BD9-81ED-4DB2-BD59-A6C34878D82A}">
                    <a16:rowId xmlns:a16="http://schemas.microsoft.com/office/drawing/2014/main" xmlns="" val="486346254"/>
                  </a:ext>
                </a:extLst>
              </a:tr>
              <a:tr h="6251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Zhou &amp; Lee</a:t>
                      </a: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Parking Pricing Using Demand–Supply Analysis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 demand-based pricing model to optimize parking occupancy and improve revenue.</a:t>
                      </a: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Relies mainly on historical data; ignores real-time weather and event information.</a:t>
                      </a:r>
                    </a:p>
                  </a:txBody>
                  <a:tcPr marL="22088" marR="22088" marT="11044" marB="11044" anchor="ctr"/>
                </a:tc>
                <a:extLst>
                  <a:ext uri="{0D108BD9-81ED-4DB2-BD59-A6C34878D82A}">
                    <a16:rowId xmlns:a16="http://schemas.microsoft.com/office/drawing/2014/main" xmlns="" val="2544651110"/>
                  </a:ext>
                </a:extLst>
              </a:tr>
              <a:tr h="6251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Sarker et al.</a:t>
                      </a: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Parking Management System with IoT Integration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 IoT sensors, mobile applications, and cloud services for real-time parking management and monitoring.</a:t>
                      </a: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deployment cost and limited scalability for large metropolitan cities.</a:t>
                      </a:r>
                    </a:p>
                  </a:txBody>
                  <a:tcPr marL="22088" marR="22088" marT="11044" marB="11044" anchor="ctr"/>
                </a:tc>
                <a:extLst>
                  <a:ext uri="{0D108BD9-81ED-4DB2-BD59-A6C34878D82A}">
                    <a16:rowId xmlns:a16="http://schemas.microsoft.com/office/drawing/2014/main" xmlns="" val="2565952216"/>
                  </a:ext>
                </a:extLst>
              </a:tr>
              <a:tr h="6251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Mabrouk et al.</a:t>
                      </a: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Learning-Based Parking Demand Forecasting</a:t>
                      </a:r>
                      <a:endParaRPr lang="en-AU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Utilized deep learning models to predict parking demand and recommend optimal pricing strategies.</a:t>
                      </a:r>
                    </a:p>
                  </a:txBody>
                  <a:tcPr marL="22088" marR="22088" marT="11044" marB="110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large datasets and high computational resources for training.</a:t>
                      </a:r>
                    </a:p>
                  </a:txBody>
                  <a:tcPr marL="22088" marR="22088" marT="11044" marB="11044" anchor="ctr"/>
                </a:tc>
                <a:extLst>
                  <a:ext uri="{0D108BD9-81ED-4DB2-BD59-A6C34878D82A}">
                    <a16:rowId xmlns:a16="http://schemas.microsoft.com/office/drawing/2014/main" xmlns="" val="3997939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4162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DD202C1-F932-4CB6-813E-AA1F3A566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6A78627-44E2-E639-283B-7A2181756CEE}"/>
              </a:ext>
            </a:extLst>
          </p:cNvPr>
          <p:cNvSpPr txBox="1"/>
          <p:nvPr/>
        </p:nvSpPr>
        <p:spPr>
          <a:xfrm>
            <a:off x="3172542" y="318462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System Architecture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Saveetha School of Engineering, Chennai, Tamil Nadu - Careerindia">
            <a:extLst>
              <a:ext uri="{FF2B5EF4-FFF2-40B4-BE49-F238E27FC236}">
                <a16:creationId xmlns:a16="http://schemas.microsoft.com/office/drawing/2014/main" xmlns="" id="{1AFBD1D3-1636-DAED-FA75-06C1E0D73A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17" y="137651"/>
            <a:ext cx="982441" cy="129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CFP: Conference on Smart &amp; Modernisation Techniques @ Saveetha University,  Chennai [Mar 16-17] : Submit by Jan 8 - NoticeBard | Home">
            <a:extLst>
              <a:ext uri="{FF2B5EF4-FFF2-40B4-BE49-F238E27FC236}">
                <a16:creationId xmlns:a16="http://schemas.microsoft.com/office/drawing/2014/main" xmlns="" id="{C010EE99-0ECC-1D5B-D81B-8BB82270F2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2173" y="-563092"/>
            <a:ext cx="3052177" cy="253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5BA19242-D6BF-3B76-7FEB-BBD8A0133D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40" y="1430415"/>
            <a:ext cx="9296400" cy="510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067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82696" y="54134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/ Workflow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8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1755648" cy="2468880"/>
          </a:xfrm>
          <a:prstGeom prst="roundRect">
            <a:avLst>
              <a:gd name="adj" fmla="val 4167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88136" y="2331720"/>
            <a:ext cx="585216" cy="585216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10" name="Image 0" descr="/home/claude/icons/wif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292" y="2483876"/>
            <a:ext cx="280904" cy="2809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30632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12648" y="361188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6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live occupancy &amp; entry/exit data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2267712" y="3154680"/>
            <a:ext cx="128016" cy="365760"/>
          </a:xfrm>
          <a:prstGeom prst="chevron">
            <a:avLst/>
          </a:prstGeom>
          <a:solidFill>
            <a:srgbClr val="AEB9C7"/>
          </a:solidFill>
          <a:ln/>
        </p:spPr>
      </p:sp>
      <p:sp>
        <p:nvSpPr>
          <p:cNvPr id="14" name="Text 11"/>
          <p:cNvSpPr/>
          <p:nvPr/>
        </p:nvSpPr>
        <p:spPr>
          <a:xfrm>
            <a:off x="2404872" y="16002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8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404872" y="2103120"/>
            <a:ext cx="1755648" cy="2468880"/>
          </a:xfrm>
          <a:prstGeom prst="roundRect">
            <a:avLst>
              <a:gd name="adj" fmla="val 4167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990088" y="2331720"/>
            <a:ext cx="585216" cy="585216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17" name="Image 1" descr="/home/claude/icons/gau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2244" y="2483876"/>
            <a:ext cx="280904" cy="28090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496312" y="30632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2514600" y="361188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6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current zone occupancy level</a:t>
            </a:r>
            <a:endParaRPr lang="en-US" sz="960" dirty="0"/>
          </a:p>
        </p:txBody>
      </p:sp>
      <p:sp>
        <p:nvSpPr>
          <p:cNvPr id="20" name="Shape 16"/>
          <p:cNvSpPr/>
          <p:nvPr/>
        </p:nvSpPr>
        <p:spPr>
          <a:xfrm>
            <a:off x="4169664" y="3154680"/>
            <a:ext cx="128016" cy="365760"/>
          </a:xfrm>
          <a:prstGeom prst="chevron">
            <a:avLst/>
          </a:prstGeom>
          <a:solidFill>
            <a:srgbClr val="AEB9C7"/>
          </a:solidFill>
          <a:ln/>
        </p:spPr>
      </p:sp>
      <p:sp>
        <p:nvSpPr>
          <p:cNvPr id="21" name="Text 17"/>
          <p:cNvSpPr/>
          <p:nvPr/>
        </p:nvSpPr>
        <p:spPr>
          <a:xfrm>
            <a:off x="4306824" y="16002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8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4306824" y="2103120"/>
            <a:ext cx="1755648" cy="2468880"/>
          </a:xfrm>
          <a:prstGeom prst="roundRect">
            <a:avLst>
              <a:gd name="adj" fmla="val 4167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892040" y="2331720"/>
            <a:ext cx="585216" cy="585216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24" name="Image 2" descr="/home/claude/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4196" y="2483876"/>
            <a:ext cx="280904" cy="28090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398264" y="30632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4416552" y="361188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6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short-term demand trend</a:t>
            </a:r>
            <a:endParaRPr lang="en-US" sz="960" dirty="0"/>
          </a:p>
        </p:txBody>
      </p:sp>
      <p:sp>
        <p:nvSpPr>
          <p:cNvPr id="27" name="Shape 22"/>
          <p:cNvSpPr/>
          <p:nvPr/>
        </p:nvSpPr>
        <p:spPr>
          <a:xfrm>
            <a:off x="6071616" y="3154680"/>
            <a:ext cx="128016" cy="365760"/>
          </a:xfrm>
          <a:prstGeom prst="chevron">
            <a:avLst/>
          </a:prstGeom>
          <a:solidFill>
            <a:srgbClr val="AEB9C7"/>
          </a:solidFill>
          <a:ln/>
        </p:spPr>
      </p:sp>
      <p:sp>
        <p:nvSpPr>
          <p:cNvPr id="28" name="Text 23"/>
          <p:cNvSpPr/>
          <p:nvPr/>
        </p:nvSpPr>
        <p:spPr>
          <a:xfrm>
            <a:off x="6208776" y="16002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8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6208776" y="2103120"/>
            <a:ext cx="1755648" cy="2468880"/>
          </a:xfrm>
          <a:prstGeom prst="roundRect">
            <a:avLst>
              <a:gd name="adj" fmla="val 4167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793992" y="2331720"/>
            <a:ext cx="585216" cy="585216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31" name="Image 3" descr="/home/claude/icons/rupe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6148" y="2483876"/>
            <a:ext cx="280904" cy="28090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300216" y="30632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6318504" y="361188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6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Recalculate price from demand tier</a:t>
            </a:r>
            <a:endParaRPr lang="en-US" sz="960" dirty="0"/>
          </a:p>
        </p:txBody>
      </p:sp>
      <p:sp>
        <p:nvSpPr>
          <p:cNvPr id="34" name="Shape 28"/>
          <p:cNvSpPr/>
          <p:nvPr/>
        </p:nvSpPr>
        <p:spPr>
          <a:xfrm>
            <a:off x="7973568" y="3154680"/>
            <a:ext cx="128016" cy="365760"/>
          </a:xfrm>
          <a:prstGeom prst="chevron">
            <a:avLst/>
          </a:prstGeom>
          <a:solidFill>
            <a:srgbClr val="AEB9C7"/>
          </a:solidFill>
          <a:ln/>
        </p:spPr>
      </p:sp>
      <p:sp>
        <p:nvSpPr>
          <p:cNvPr id="35" name="Text 29"/>
          <p:cNvSpPr/>
          <p:nvPr/>
        </p:nvSpPr>
        <p:spPr>
          <a:xfrm>
            <a:off x="8110728" y="16002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8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Shape 30"/>
          <p:cNvSpPr/>
          <p:nvPr/>
        </p:nvSpPr>
        <p:spPr>
          <a:xfrm>
            <a:off x="8110728" y="2103120"/>
            <a:ext cx="1755648" cy="2468880"/>
          </a:xfrm>
          <a:prstGeom prst="roundRect">
            <a:avLst>
              <a:gd name="adj" fmla="val 4167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8695944" y="2331720"/>
            <a:ext cx="585216" cy="585216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38" name="Image 4" descr="/home/claude/icons/b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8100" y="2483876"/>
            <a:ext cx="280904" cy="280904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8202168" y="30632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150" dirty="0"/>
          </a:p>
        </p:txBody>
      </p:sp>
      <p:sp>
        <p:nvSpPr>
          <p:cNvPr id="40" name="Text 33"/>
          <p:cNvSpPr/>
          <p:nvPr/>
        </p:nvSpPr>
        <p:spPr>
          <a:xfrm>
            <a:off x="8220456" y="361188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6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price &amp; availability to drivers</a:t>
            </a:r>
            <a:endParaRPr lang="en-US" sz="960" dirty="0"/>
          </a:p>
        </p:txBody>
      </p:sp>
      <p:sp>
        <p:nvSpPr>
          <p:cNvPr id="41" name="Shape 34"/>
          <p:cNvSpPr/>
          <p:nvPr/>
        </p:nvSpPr>
        <p:spPr>
          <a:xfrm>
            <a:off x="9875520" y="3154680"/>
            <a:ext cx="128016" cy="365760"/>
          </a:xfrm>
          <a:prstGeom prst="chevron">
            <a:avLst/>
          </a:prstGeom>
          <a:solidFill>
            <a:srgbClr val="AEB9C7"/>
          </a:solidFill>
          <a:ln/>
        </p:spPr>
      </p:sp>
      <p:sp>
        <p:nvSpPr>
          <p:cNvPr id="42" name="Text 35"/>
          <p:cNvSpPr/>
          <p:nvPr/>
        </p:nvSpPr>
        <p:spPr>
          <a:xfrm>
            <a:off x="10012680" y="16002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8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43" name="Shape 36"/>
          <p:cNvSpPr/>
          <p:nvPr/>
        </p:nvSpPr>
        <p:spPr>
          <a:xfrm>
            <a:off x="10012680" y="2103120"/>
            <a:ext cx="1755648" cy="2468880"/>
          </a:xfrm>
          <a:prstGeom prst="roundRect">
            <a:avLst>
              <a:gd name="adj" fmla="val 4167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44" name="Shape 37"/>
          <p:cNvSpPr/>
          <p:nvPr/>
        </p:nvSpPr>
        <p:spPr>
          <a:xfrm>
            <a:off x="10597896" y="2331720"/>
            <a:ext cx="585216" cy="585216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45" name="Image 5" descr="/home/claude/icons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50052" y="2483876"/>
            <a:ext cx="280904" cy="280904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10104120" y="30632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150" dirty="0"/>
          </a:p>
        </p:txBody>
      </p:sp>
      <p:sp>
        <p:nvSpPr>
          <p:cNvPr id="47" name="Text 39"/>
          <p:cNvSpPr/>
          <p:nvPr/>
        </p:nvSpPr>
        <p:spPr>
          <a:xfrm>
            <a:off x="10122408" y="361188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6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slot and reservation</a:t>
            </a:r>
            <a:endParaRPr lang="en-US" sz="960" dirty="0"/>
          </a:p>
        </p:txBody>
      </p:sp>
      <p:sp>
        <p:nvSpPr>
          <p:cNvPr id="48" name="Text 40"/>
          <p:cNvSpPr/>
          <p:nvPr/>
        </p:nvSpPr>
        <p:spPr>
          <a:xfrm>
            <a:off x="502920" y="48920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closed-loop workflow: each booking's outcome feeds back into future demand monitoring.</a:t>
            </a:r>
            <a:endParaRPr lang="en-US" sz="1200" dirty="0"/>
          </a:p>
        </p:txBody>
      </p:sp>
      <p:pic>
        <p:nvPicPr>
          <p:cNvPr id="49" name="Google Shape;145;p1" descr="Saveetha School of Engineering, Chennai, Tamil Nadu - Careerindia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75937" y="137651"/>
            <a:ext cx="982440" cy="129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004585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3671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413760" y="587817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/ Product Design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41148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Overview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and app events flow into backend services that classify demand and recompute price per zone.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 store holds zones, price tiers, and bookings; the pricing history feeds back into demand analysis</a:t>
            </a:r>
            <a:r>
              <a:rPr lang="en-US" sz="1600" dirty="0" smtClean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>
              <a:lnSpc>
                <a:spcPct val="108000"/>
              </a:lnSpc>
              <a:spcAft>
                <a:spcPts val="600"/>
              </a:spcAft>
              <a:buSzPct val="100000"/>
            </a:pPr>
            <a:endParaRPr lang="en-US" sz="1600" dirty="0"/>
          </a:p>
          <a:p>
            <a:pPr marL="0" indent="0">
              <a:lnSpc>
                <a:spcPct val="108000"/>
              </a:lnSpc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Interaction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view live availability and price on a map-style interface before selecting and booking a slot.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937760" y="1691640"/>
            <a:ext cx="6720840" cy="4434840"/>
          </a:xfrm>
          <a:prstGeom prst="roundRect">
            <a:avLst>
              <a:gd name="adj" fmla="val 1649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212080" y="187452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Data Flow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3520" y="24688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0" y="24688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59752" y="2761488"/>
            <a:ext cx="356616" cy="329184"/>
          </a:xfrm>
          <a:prstGeom prst="chevron">
            <a:avLst/>
          </a:prstGeom>
          <a:solidFill>
            <a:srgbClr val="1B3A63"/>
          </a:solidFill>
          <a:ln/>
        </p:spPr>
      </p:sp>
      <p:sp>
        <p:nvSpPr>
          <p:cNvPr id="13" name="Shape 11"/>
          <p:cNvSpPr/>
          <p:nvPr/>
        </p:nvSpPr>
        <p:spPr>
          <a:xfrm>
            <a:off x="7543800" y="24688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43800" y="24688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400032" y="2761488"/>
            <a:ext cx="356616" cy="329184"/>
          </a:xfrm>
          <a:prstGeom prst="chevron">
            <a:avLst/>
          </a:prstGeom>
          <a:solidFill>
            <a:srgbClr val="1B3A63"/>
          </a:solidFill>
          <a:ln/>
        </p:spPr>
      </p:sp>
      <p:sp>
        <p:nvSpPr>
          <p:cNvPr id="16" name="Shape 14"/>
          <p:cNvSpPr/>
          <p:nvPr/>
        </p:nvSpPr>
        <p:spPr>
          <a:xfrm>
            <a:off x="9784080" y="246888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784080" y="24688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303520" y="38404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B3A63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3840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59752" y="4133088"/>
            <a:ext cx="356616" cy="329184"/>
          </a:xfrm>
          <a:prstGeom prst="chevron">
            <a:avLst/>
          </a:prstGeom>
          <a:solidFill>
            <a:srgbClr val="E8892E"/>
          </a:solidFill>
          <a:ln/>
        </p:spPr>
      </p:sp>
      <p:sp>
        <p:nvSpPr>
          <p:cNvPr id="21" name="Shape 19"/>
          <p:cNvSpPr/>
          <p:nvPr/>
        </p:nvSpPr>
        <p:spPr>
          <a:xfrm>
            <a:off x="7543800" y="38404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B3A63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43800" y="3840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/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DB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400032" y="4133088"/>
            <a:ext cx="356616" cy="329184"/>
          </a:xfrm>
          <a:prstGeom prst="chevron">
            <a:avLst/>
          </a:prstGeom>
          <a:solidFill>
            <a:srgbClr val="E8892E"/>
          </a:solidFill>
          <a:ln/>
        </p:spPr>
      </p:sp>
      <p:sp>
        <p:nvSpPr>
          <p:cNvPr id="24" name="Shape 22"/>
          <p:cNvSpPr/>
          <p:nvPr/>
        </p:nvSpPr>
        <p:spPr>
          <a:xfrm>
            <a:off x="9784080" y="384048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1B3A63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84080" y="38404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UI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 rot="5400000">
            <a:off x="6126480" y="3383280"/>
            <a:ext cx="365760" cy="365760"/>
          </a:xfrm>
          <a:prstGeom prst="chevron">
            <a:avLst/>
          </a:prstGeom>
          <a:solidFill>
            <a:srgbClr val="AEB9C7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4937760"/>
            <a:ext cx="5989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Level → Pricing Rule Engine feedback loop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303520" y="5303520"/>
            <a:ext cx="5989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UML/ER-style relationships shown are conceptual; refine with a full class/ER diagram during implementation.</a:t>
            </a:r>
            <a:endParaRPr lang="en-US" sz="1050" dirty="0"/>
          </a:p>
        </p:txBody>
      </p:sp>
      <p:pic>
        <p:nvPicPr>
          <p:cNvPr id="29" name="Google Shape;145;p1" descr="Saveetha School of Engineering, Chennai, Tamil Nadu - Careerin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5937" y="137651"/>
            <a:ext cx="982440" cy="129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04585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4440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470106" y="862388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&amp; Tools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4088" y="1847088"/>
            <a:ext cx="457200" cy="45720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9" name="Image 0" descr="/home/claude/icons/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8105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&amp; Frameworks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04088" y="2450592"/>
            <a:ext cx="32095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</a:t>
            </a:r>
            <a:endParaRPr lang="en-US" sz="11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— REST services</a:t>
            </a:r>
            <a:endParaRPr lang="en-US" sz="11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front-end framework]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97680" y="16459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98848" y="1847088"/>
            <a:ext cx="457200" cy="457200"/>
          </a:xfrm>
          <a:prstGeom prst="ellipse">
            <a:avLst/>
          </a:prstGeom>
          <a:solidFill>
            <a:srgbClr val="E8892E"/>
          </a:solidFill>
          <a:ln/>
        </p:spPr>
      </p:sp>
      <p:pic>
        <p:nvPicPr>
          <p:cNvPr id="14" name="Image 1" descr="/home/claude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965960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074920" y="18105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Storage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498848" y="2450592"/>
            <a:ext cx="32095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DB — [MySQL / PostgreSQL]</a:t>
            </a:r>
            <a:endParaRPr lang="en-US" sz="11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layer for live occupancy</a:t>
            </a:r>
            <a:endParaRPr lang="en-US" sz="11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data lake / logs store]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092440" y="16459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93608" y="1847088"/>
            <a:ext cx="457200" cy="45720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19" name="Image 2" descr="/home/claude/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965960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869680" y="18105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Prediction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293608" y="2450592"/>
            <a:ext cx="32095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ML library, e.g. scikit-learn]</a:t>
            </a:r>
            <a:endParaRPr lang="en-US" sz="11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+ real-time feature inputs</a:t>
            </a:r>
            <a:endParaRPr lang="en-US" sz="11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classification model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02920" y="39776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04088" y="4178808"/>
            <a:ext cx="457200" cy="457200"/>
          </a:xfrm>
          <a:prstGeom prst="ellipse">
            <a:avLst/>
          </a:prstGeom>
          <a:solidFill>
            <a:srgbClr val="E8892E"/>
          </a:solidFill>
          <a:ln/>
        </p:spPr>
      </p:sp>
      <p:pic>
        <p:nvPicPr>
          <p:cNvPr id="24" name="Image 3" descr="/home/claude/icons/wif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297680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80160" y="41422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&amp; Sensors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704088" y="4782312"/>
            <a:ext cx="32095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/ entry-exit sensors</a:t>
            </a:r>
            <a:endParaRPr lang="en-US" sz="11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gateway for local aggregation</a:t>
            </a:r>
            <a:endParaRPr lang="en-US" sz="11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sensor protocol]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297680" y="39776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498848" y="4178808"/>
            <a:ext cx="457200" cy="45720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29" name="Image 4" descr="/home/claude/icons/clo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4297680"/>
            <a:ext cx="219456" cy="21945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074920" y="41422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&amp; Platforms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4498848" y="4782312"/>
            <a:ext cx="32095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/ navigation API</a:t>
            </a:r>
            <a:endParaRPr lang="en-US" sz="11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API</a:t>
            </a:r>
            <a:endParaRPr lang="en-US" sz="11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(SMS / push) API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8092440" y="39776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8293608" y="4178808"/>
            <a:ext cx="457200" cy="457200"/>
          </a:xfrm>
          <a:prstGeom prst="ellipse">
            <a:avLst/>
          </a:prstGeom>
          <a:solidFill>
            <a:srgbClr val="E8892E"/>
          </a:solidFill>
          <a:ln/>
        </p:spPr>
      </p:sp>
      <p:pic>
        <p:nvPicPr>
          <p:cNvPr id="34" name="Image 5" descr="/home/claude/icons/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0" y="4297680"/>
            <a:ext cx="219456" cy="21945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869680" y="41422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Tools</a:t>
            </a:r>
            <a:endParaRPr lang="en-US" sz="1600" dirty="0"/>
          </a:p>
        </p:txBody>
      </p:sp>
      <p:sp>
        <p:nvSpPr>
          <p:cNvPr id="36" name="Text 28"/>
          <p:cNvSpPr/>
          <p:nvPr/>
        </p:nvSpPr>
        <p:spPr>
          <a:xfrm>
            <a:off x="8293608" y="4782312"/>
            <a:ext cx="32095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cloud platform]</a:t>
            </a:r>
            <a:endParaRPr lang="en-US" sz="11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 for services</a:t>
            </a:r>
            <a:endParaRPr lang="en-US" sz="11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CI/CD tool]</a:t>
            </a:r>
            <a:endParaRPr lang="en-US" sz="1100" dirty="0"/>
          </a:p>
        </p:txBody>
      </p:sp>
      <p:pic>
        <p:nvPicPr>
          <p:cNvPr id="37" name="Google Shape;145;p1" descr="Saveetha School of Engineering, Chennai, Tamil Nadu - Careerindia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75937" y="137651"/>
            <a:ext cx="982440" cy="129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004585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5181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veetha School of Engineering, Chennai, Tamil Nadu - Careerindia">
            <a:extLst>
              <a:ext uri="{FF2B5EF4-FFF2-40B4-BE49-F238E27FC236}">
                <a16:creationId xmlns:a16="http://schemas.microsoft.com/office/drawing/2014/main" xmlns="" id="{F40C6B2E-4839-886E-F6D2-7C8A8EFCC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17" y="137651"/>
            <a:ext cx="982441" cy="129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CFP: Conference on Smart &amp; Modernisation Techniques @ Saveetha University,  Chennai [Mar 16-17] : Submit by Jan 8 - NoticeBard | Home">
            <a:extLst>
              <a:ext uri="{FF2B5EF4-FFF2-40B4-BE49-F238E27FC236}">
                <a16:creationId xmlns:a16="http://schemas.microsoft.com/office/drawing/2014/main" xmlns="" id="{3791EFA6-F54D-0BCE-9FE6-21A527C92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2507" y="-563092"/>
            <a:ext cx="3052177" cy="253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C5285B3-894B-7C10-8DB1-E10B3386BADA}"/>
              </a:ext>
            </a:extLst>
          </p:cNvPr>
          <p:cNvSpPr txBox="1"/>
          <p:nvPr/>
        </p:nvSpPr>
        <p:spPr>
          <a:xfrm>
            <a:off x="4004245" y="437688"/>
            <a:ext cx="8056763" cy="692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</a:pPr>
            <a:r>
              <a:rPr lang="en-US" sz="4000" b="1" dirty="0" smtClean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Module Design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69572" y="1440445"/>
            <a:ext cx="920931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Parking occupancy, vehicle arrivals, historical demand, time, and location data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Layer: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demand analysis and prediction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Modules: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Monitoring Module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Pricing Engine Module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Notification &amp; Booking Module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Layer: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Updated parking price, availability information, notifications, and booking confirmation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Optimize parking utilization, reduce congestion, and provide fair demand-based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pricing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→ Demand Prediction → Dynamic Pricing → User Notification → Parking Booking</a:t>
            </a:r>
          </a:p>
        </p:txBody>
      </p:sp>
    </p:spTree>
    <p:extLst>
      <p:ext uri="{BB962C8B-B14F-4D97-AF65-F5344CB8AC3E}">
        <p14:creationId xmlns:p14="http://schemas.microsoft.com/office/powerpoint/2010/main" val="3650977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aveetha School of Engineering, Chennai, Tamil Nadu - Careerindia">
            <a:extLst>
              <a:ext uri="{FF2B5EF4-FFF2-40B4-BE49-F238E27FC236}">
                <a16:creationId xmlns:a16="http://schemas.microsoft.com/office/drawing/2014/main" xmlns="" id="{F40C6B2E-4839-886E-F6D2-7C8A8EFCC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17" y="137651"/>
            <a:ext cx="982441" cy="129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CFP: Conference on Smart &amp; Modernisation Techniques @ Saveetha University,  Chennai [Mar 16-17] : Submit by Jan 8 - NoticeBard | Home">
            <a:extLst>
              <a:ext uri="{FF2B5EF4-FFF2-40B4-BE49-F238E27FC236}">
                <a16:creationId xmlns:a16="http://schemas.microsoft.com/office/drawing/2014/main" xmlns="" id="{3791EFA6-F54D-0BCE-9FE6-21A527C92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2507" y="-563092"/>
            <a:ext cx="3052177" cy="253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0C5285B3-894B-7C10-8DB1-E10B3386BADA}"/>
              </a:ext>
            </a:extLst>
          </p:cNvPr>
          <p:cNvSpPr txBox="1"/>
          <p:nvPr/>
        </p:nvSpPr>
        <p:spPr>
          <a:xfrm>
            <a:off x="2273417" y="437688"/>
            <a:ext cx="8056763" cy="73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</a:pPr>
            <a:r>
              <a:rPr lang="en-US" sz="4000" b="1" dirty="0" smtClean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Module 1:Demand Monitoring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432991" y="1555499"/>
            <a:ext cx="933994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Purpose 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parking demand and estimate the current occupancy level of each parking zone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Functions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real-time parking occupancy data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vehicle entry and exit rates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available parking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spaces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occupied spaces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available spaces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Arrival/departure rate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Demand Level: Low / Medium / High</a:t>
            </a:r>
          </a:p>
        </p:txBody>
      </p:sp>
    </p:spTree>
    <p:extLst>
      <p:ext uri="{BB962C8B-B14F-4D97-AF65-F5344CB8AC3E}">
        <p14:creationId xmlns:p14="http://schemas.microsoft.com/office/powerpoint/2010/main" val="16298628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veetha School of Engineering, Chennai, Tamil Nadu - Careerindia">
            <a:extLst>
              <a:ext uri="{FF2B5EF4-FFF2-40B4-BE49-F238E27FC236}">
                <a16:creationId xmlns:a16="http://schemas.microsoft.com/office/drawing/2014/main" xmlns="" id="{F40C6B2E-4839-886E-F6D2-7C8A8EFCC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17" y="137651"/>
            <a:ext cx="982441" cy="129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CFP: Conference on Smart &amp; Modernisation Techniques @ Saveetha University,  Chennai [Mar 16-17] : Submit by Jan 8 - NoticeBard | Home">
            <a:extLst>
              <a:ext uri="{FF2B5EF4-FFF2-40B4-BE49-F238E27FC236}">
                <a16:creationId xmlns:a16="http://schemas.microsoft.com/office/drawing/2014/main" xmlns="" id="{3791EFA6-F54D-0BCE-9FE6-21A527C92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2507" y="-563092"/>
            <a:ext cx="3052177" cy="253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C5285B3-894B-7C10-8DB1-E10B3386BADA}"/>
              </a:ext>
            </a:extLst>
          </p:cNvPr>
          <p:cNvSpPr txBox="1"/>
          <p:nvPr/>
        </p:nvSpPr>
        <p:spPr>
          <a:xfrm>
            <a:off x="2273417" y="437688"/>
            <a:ext cx="8056763" cy="73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</a:pPr>
            <a:r>
              <a:rPr lang="en-US" sz="40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Module </a:t>
            </a:r>
            <a:r>
              <a:rPr lang="en-US" sz="4000" b="1" dirty="0" smtClean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2 :Dynamic </a:t>
            </a:r>
            <a:r>
              <a:rPr lang="en-US" sz="40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Pricing Engine 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24743" y="1331720"/>
            <a:ext cx="9731829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calculate parking fees according to predicted real-time demand.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Functions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demand level from the Demand Monitoring Module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short-term parking demand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predefined pricing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</a:p>
          <a:p>
            <a:pPr>
              <a:lnSpc>
                <a:spcPct val="150000"/>
              </a:lnSpc>
            </a:pPr>
            <a:r>
              <a:rPr lang="en-US" b="1" dirty="0"/>
              <a:t>Example Pricing Logic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231947"/>
              </p:ext>
            </p:extLst>
          </p:nvPr>
        </p:nvGraphicFramePr>
        <p:xfrm>
          <a:off x="2024743" y="4020889"/>
          <a:ext cx="8577942" cy="1463040"/>
        </p:xfrm>
        <a:graphic>
          <a:graphicData uri="http://schemas.openxmlformats.org/drawingml/2006/table">
            <a:tbl>
              <a:tblPr/>
              <a:tblGrid>
                <a:gridCol w="2859314"/>
                <a:gridCol w="2859314"/>
                <a:gridCol w="2859314"/>
              </a:tblGrid>
              <a:tr h="217136">
                <a:tc>
                  <a:txBody>
                    <a:bodyPr/>
                    <a:lstStyle/>
                    <a:p>
                      <a:r>
                        <a:rPr lang="en-US"/>
                        <a:t>Demand Level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Occupancy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Pricing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17136">
                <a:tc>
                  <a:txBody>
                    <a:bodyPr/>
                    <a:lstStyle/>
                    <a:p>
                      <a:r>
                        <a:rPr lang="en-US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0–40%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₹20/hour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17136">
                <a:tc>
                  <a:txBody>
                    <a:bodyPr/>
                    <a:lstStyle/>
                    <a:p>
                      <a:r>
                        <a:rPr lang="en-US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41–70%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₹30/hour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17136"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71–100%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₹45/hour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87951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veetha School of Engineering, Chennai, Tamil Nadu - Careerindia">
            <a:extLst>
              <a:ext uri="{FF2B5EF4-FFF2-40B4-BE49-F238E27FC236}">
                <a16:creationId xmlns:a16="http://schemas.microsoft.com/office/drawing/2014/main" xmlns="" id="{F40C6B2E-4839-886E-F6D2-7C8A8EFCC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17" y="137651"/>
            <a:ext cx="982441" cy="129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CFP: Conference on Smart &amp; Modernisation Techniques @ Saveetha University,  Chennai [Mar 16-17] : Submit by Jan 8 - NoticeBard | Home">
            <a:extLst>
              <a:ext uri="{FF2B5EF4-FFF2-40B4-BE49-F238E27FC236}">
                <a16:creationId xmlns:a16="http://schemas.microsoft.com/office/drawing/2014/main" xmlns="" id="{3791EFA6-F54D-0BCE-9FE6-21A527C92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2507" y="-563092"/>
            <a:ext cx="3052177" cy="253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C5285B3-894B-7C10-8DB1-E10B3386BADA}"/>
              </a:ext>
            </a:extLst>
          </p:cNvPr>
          <p:cNvSpPr txBox="1"/>
          <p:nvPr/>
        </p:nvSpPr>
        <p:spPr>
          <a:xfrm>
            <a:off x="1568741" y="417779"/>
            <a:ext cx="8895663" cy="73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</a:pPr>
            <a:r>
              <a:rPr lang="en-US" sz="40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Module </a:t>
            </a:r>
            <a:r>
              <a:rPr lang="en-US" sz="4000" b="1" dirty="0" smtClean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3 : User </a:t>
            </a:r>
            <a:r>
              <a:rPr lang="en-US" sz="40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Notification &amp; </a:t>
            </a:r>
            <a:r>
              <a:rPr lang="en-US" sz="4000" b="1" dirty="0" smtClean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Booking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8058" y="1456573"/>
            <a:ext cx="966531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users with real-time parking information and allow them to reserve available spaces.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Functions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nearby parking locations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available parking spaces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current dynamic price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price and availability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Parking → View Availability → Check Dynamic Price → Select Slot → Book →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Confirmation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time spent searching for parking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user convenience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transparent pricing</a:t>
            </a:r>
          </a:p>
        </p:txBody>
      </p:sp>
    </p:spTree>
    <p:extLst>
      <p:ext uri="{BB962C8B-B14F-4D97-AF65-F5344CB8AC3E}">
        <p14:creationId xmlns:p14="http://schemas.microsoft.com/office/powerpoint/2010/main" val="12067097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1"/>
          <p:cNvSpPr/>
          <p:nvPr/>
        </p:nvSpPr>
        <p:spPr>
          <a:xfrm>
            <a:off x="2042720" y="566928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Algorithm / Technical Implementation</a:t>
            </a:r>
            <a:endParaRPr lang="en-US" sz="3200" dirty="0"/>
          </a:p>
        </p:txBody>
      </p:sp>
      <p:sp>
        <p:nvSpPr>
          <p:cNvPr id="42" name="Text 5"/>
          <p:cNvSpPr/>
          <p:nvPr/>
        </p:nvSpPr>
        <p:spPr>
          <a:xfrm>
            <a:off x="502920" y="1645920"/>
            <a:ext cx="51206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Logic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short-term demand model estimates the occupancy trend for each zone from recent arrival/departure rates and historical patterns</a:t>
            </a:r>
            <a:r>
              <a:rPr lang="en-US" sz="1600" dirty="0" smtClean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>
              <a:lnSpc>
                <a:spcPct val="108000"/>
              </a:lnSpc>
              <a:spcAft>
                <a:spcPts val="600"/>
              </a:spcAft>
              <a:buSzPct val="100000"/>
            </a:pPr>
            <a:endParaRPr lang="en-US" sz="1600" dirty="0"/>
          </a:p>
          <a:p>
            <a:pPr marL="0" indent="0">
              <a:lnSpc>
                <a:spcPct val="108000"/>
              </a:lnSpc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Logic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predicted occupancy percentage is mapped to a demand tier (Low / Medium / High), and the tier selects the active hourly rate.</a:t>
            </a:r>
            <a:endParaRPr lang="en-US" sz="1600" dirty="0"/>
          </a:p>
        </p:txBody>
      </p:sp>
      <p:sp>
        <p:nvSpPr>
          <p:cNvPr id="43" name="Shape 6"/>
          <p:cNvSpPr/>
          <p:nvPr/>
        </p:nvSpPr>
        <p:spPr>
          <a:xfrm>
            <a:off x="5897880" y="1645920"/>
            <a:ext cx="5806440" cy="4480560"/>
          </a:xfrm>
          <a:prstGeom prst="roundRect">
            <a:avLst>
              <a:gd name="adj" fmla="val 1633"/>
            </a:avLst>
          </a:prstGeom>
          <a:solidFill>
            <a:srgbClr val="10233F"/>
          </a:solidFill>
          <a:ln/>
        </p:spPr>
      </p:sp>
      <p:sp>
        <p:nvSpPr>
          <p:cNvPr id="44" name="Text 7"/>
          <p:cNvSpPr/>
          <p:nvPr/>
        </p:nvSpPr>
        <p:spPr>
          <a:xfrm>
            <a:off x="6217920" y="187452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— PRICE CALCULATION</a:t>
            </a:r>
            <a:endParaRPr lang="en-US" sz="1050" dirty="0"/>
          </a:p>
        </p:txBody>
      </p:sp>
      <p:sp>
        <p:nvSpPr>
          <p:cNvPr id="45" name="Text 8"/>
          <p:cNvSpPr/>
          <p:nvPr/>
        </p:nvSpPr>
        <p:spPr>
          <a:xfrm>
            <a:off x="6217920" y="2286000"/>
            <a:ext cx="5166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computePrice(zone):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occupancy = zone.occupiedSpaces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/ zone.totalSpaces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occupancy &lt;= 0.40: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level = LOW;      price = 20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if occupancy &lt;= 0.70: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level = MEDIUM;   price = 30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level = HIGH;     price = 45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notify(zone, level, price)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price</a:t>
            </a:r>
            <a:endParaRPr lang="en-US" sz="1250" dirty="0"/>
          </a:p>
        </p:txBody>
      </p:sp>
      <p:pic>
        <p:nvPicPr>
          <p:cNvPr id="46" name="Google Shape;145;p1" descr="Saveetha School of Engineering, Chennai, Tamil Nadu - Careerin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5937" y="137651"/>
            <a:ext cx="982440" cy="129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04585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482351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>
          <a:xfrm>
            <a:off x="3288484" y="585216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/ Working Model</a:t>
            </a:r>
            <a:endParaRPr lang="en-US" sz="3200" dirty="0"/>
          </a:p>
        </p:txBody>
      </p:sp>
      <p:sp>
        <p:nvSpPr>
          <p:cNvPr id="5" name="Text 5"/>
          <p:cNvSpPr/>
          <p:nvPr/>
        </p:nvSpPr>
        <p:spPr>
          <a:xfrm>
            <a:off x="50292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mock UI — not an actual product screenshot</a:t>
            </a:r>
            <a:endParaRPr lang="en-US" sz="1100" dirty="0"/>
          </a:p>
        </p:txBody>
      </p:sp>
      <p:sp>
        <p:nvSpPr>
          <p:cNvPr id="6" name="Shape 6"/>
          <p:cNvSpPr/>
          <p:nvPr/>
        </p:nvSpPr>
        <p:spPr>
          <a:xfrm>
            <a:off x="777240" y="1828800"/>
            <a:ext cx="3291840" cy="4297680"/>
          </a:xfrm>
          <a:prstGeom prst="roundRect">
            <a:avLst>
              <a:gd name="adj" fmla="val 5000"/>
            </a:avLst>
          </a:prstGeom>
          <a:solidFill>
            <a:srgbClr val="1B3A63"/>
          </a:solidFill>
          <a:ln w="19050">
            <a:solidFill>
              <a:srgbClr val="10233F"/>
            </a:solidFill>
            <a:prstDash val="solid"/>
          </a:ln>
        </p:spPr>
      </p:sp>
      <p:sp>
        <p:nvSpPr>
          <p:cNvPr id="7" name="Shape 7"/>
          <p:cNvSpPr/>
          <p:nvPr/>
        </p:nvSpPr>
        <p:spPr>
          <a:xfrm>
            <a:off x="886968" y="2057400"/>
            <a:ext cx="3072384" cy="3840480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/>
        </p:spPr>
      </p:sp>
      <p:sp>
        <p:nvSpPr>
          <p:cNvPr id="8" name="Text 8"/>
          <p:cNvSpPr/>
          <p:nvPr/>
        </p:nvSpPr>
        <p:spPr>
          <a:xfrm>
            <a:off x="1051560" y="2194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Parking</a:t>
            </a:r>
            <a:endParaRPr lang="en-US" sz="1300" dirty="0"/>
          </a:p>
        </p:txBody>
      </p:sp>
      <p:sp>
        <p:nvSpPr>
          <p:cNvPr id="9" name="Shape 9"/>
          <p:cNvSpPr/>
          <p:nvPr/>
        </p:nvSpPr>
        <p:spPr>
          <a:xfrm>
            <a:off x="1033272" y="2651760"/>
            <a:ext cx="2779776" cy="914400"/>
          </a:xfrm>
          <a:prstGeom prst="roundRect">
            <a:avLst>
              <a:gd name="adj" fmla="val 7000"/>
            </a:avLst>
          </a:prstGeom>
          <a:solidFill>
            <a:srgbClr val="EAF1FA"/>
          </a:solidFill>
          <a:ln/>
        </p:spPr>
      </p:sp>
      <p:sp>
        <p:nvSpPr>
          <p:cNvPr id="10" name="Text 10"/>
          <p:cNvSpPr/>
          <p:nvPr/>
        </p:nvSpPr>
        <p:spPr>
          <a:xfrm>
            <a:off x="1161288" y="274320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Mall Parking</a:t>
            </a:r>
            <a:endParaRPr lang="en-US" sz="1050" dirty="0"/>
          </a:p>
        </p:txBody>
      </p:sp>
      <p:sp>
        <p:nvSpPr>
          <p:cNvPr id="11" name="Text 11"/>
          <p:cNvSpPr/>
          <p:nvPr/>
        </p:nvSpPr>
        <p:spPr>
          <a:xfrm>
            <a:off x="1161288" y="30358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full</a:t>
            </a:r>
            <a:endParaRPr lang="en-US" sz="950" dirty="0"/>
          </a:p>
        </p:txBody>
      </p:sp>
      <p:sp>
        <p:nvSpPr>
          <p:cNvPr id="12" name="Text 12"/>
          <p:cNvSpPr/>
          <p:nvPr/>
        </p:nvSpPr>
        <p:spPr>
          <a:xfrm>
            <a:off x="2788920" y="3017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₹30/hr</a:t>
            </a:r>
            <a:endParaRPr lang="en-US" sz="1100" dirty="0"/>
          </a:p>
        </p:txBody>
      </p:sp>
      <p:sp>
        <p:nvSpPr>
          <p:cNvPr id="13" name="Shape 13"/>
          <p:cNvSpPr/>
          <p:nvPr/>
        </p:nvSpPr>
        <p:spPr>
          <a:xfrm>
            <a:off x="1033272" y="3703320"/>
            <a:ext cx="2779776" cy="914400"/>
          </a:xfrm>
          <a:prstGeom prst="roundRect">
            <a:avLst>
              <a:gd name="adj" fmla="val 7000"/>
            </a:avLst>
          </a:prstGeom>
          <a:solidFill>
            <a:srgbClr val="EAF1FA"/>
          </a:solidFill>
          <a:ln/>
        </p:spPr>
      </p:sp>
      <p:sp>
        <p:nvSpPr>
          <p:cNvPr id="14" name="Text 14"/>
          <p:cNvSpPr/>
          <p:nvPr/>
        </p:nvSpPr>
        <p:spPr>
          <a:xfrm>
            <a:off x="1161288" y="379476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Center Parking</a:t>
            </a:r>
            <a:endParaRPr lang="en-US" sz="1050" dirty="0"/>
          </a:p>
        </p:txBody>
      </p:sp>
      <p:sp>
        <p:nvSpPr>
          <p:cNvPr id="15" name="Text 15"/>
          <p:cNvSpPr/>
          <p:nvPr/>
        </p:nvSpPr>
        <p:spPr>
          <a:xfrm>
            <a:off x="1161288" y="4087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full</a:t>
            </a:r>
            <a:endParaRPr lang="en-US" sz="950" dirty="0"/>
          </a:p>
        </p:txBody>
      </p:sp>
      <p:sp>
        <p:nvSpPr>
          <p:cNvPr id="16" name="Text 16"/>
          <p:cNvSpPr/>
          <p:nvPr/>
        </p:nvSpPr>
        <p:spPr>
          <a:xfrm>
            <a:off x="2788920" y="4069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₹45/hr</a:t>
            </a:r>
            <a:endParaRPr lang="en-US" sz="1100" dirty="0"/>
          </a:p>
        </p:txBody>
      </p:sp>
      <p:sp>
        <p:nvSpPr>
          <p:cNvPr id="17" name="Shape 17"/>
          <p:cNvSpPr/>
          <p:nvPr/>
        </p:nvSpPr>
        <p:spPr>
          <a:xfrm>
            <a:off x="1033272" y="4754880"/>
            <a:ext cx="2779776" cy="914400"/>
          </a:xfrm>
          <a:prstGeom prst="roundRect">
            <a:avLst>
              <a:gd name="adj" fmla="val 7000"/>
            </a:avLst>
          </a:prstGeom>
          <a:solidFill>
            <a:srgbClr val="EAF1FA"/>
          </a:solidFill>
          <a:ln/>
        </p:spPr>
      </p:sp>
      <p:sp>
        <p:nvSpPr>
          <p:cNvPr id="18" name="Text 18"/>
          <p:cNvSpPr/>
          <p:nvPr/>
        </p:nvSpPr>
        <p:spPr>
          <a:xfrm>
            <a:off x="1161288" y="484632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Station Parking</a:t>
            </a:r>
            <a:endParaRPr lang="en-US" sz="1050" dirty="0"/>
          </a:p>
        </p:txBody>
      </p:sp>
      <p:sp>
        <p:nvSpPr>
          <p:cNvPr id="19" name="Text 19"/>
          <p:cNvSpPr/>
          <p:nvPr/>
        </p:nvSpPr>
        <p:spPr>
          <a:xfrm>
            <a:off x="1161288" y="51389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FA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full</a:t>
            </a:r>
            <a:endParaRPr lang="en-US" sz="950" dirty="0"/>
          </a:p>
        </p:txBody>
      </p:sp>
      <p:sp>
        <p:nvSpPr>
          <p:cNvPr id="20" name="Text 20"/>
          <p:cNvSpPr/>
          <p:nvPr/>
        </p:nvSpPr>
        <p:spPr>
          <a:xfrm>
            <a:off x="2788920" y="5120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₹20/hr</a:t>
            </a:r>
            <a:endParaRPr lang="en-US" sz="1100" dirty="0"/>
          </a:p>
        </p:txBody>
      </p:sp>
      <p:sp>
        <p:nvSpPr>
          <p:cNvPr id="21" name="Shape 21"/>
          <p:cNvSpPr/>
          <p:nvPr/>
        </p:nvSpPr>
        <p:spPr>
          <a:xfrm>
            <a:off x="4572000" y="1828800"/>
            <a:ext cx="7086600" cy="4297680"/>
          </a:xfrm>
          <a:prstGeom prst="roundRect">
            <a:avLst>
              <a:gd name="adj" fmla="val 1702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22" name="Text 22"/>
          <p:cNvSpPr/>
          <p:nvPr/>
        </p:nvSpPr>
        <p:spPr>
          <a:xfrm>
            <a:off x="4846320" y="2057400"/>
            <a:ext cx="6537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Dashboard — Demand &amp; Pricing View</a:t>
            </a:r>
            <a:endParaRPr lang="en-US" sz="1300" dirty="0"/>
          </a:p>
        </p:txBody>
      </p:sp>
      <p:sp>
        <p:nvSpPr>
          <p:cNvPr id="23" name="Shape 23"/>
          <p:cNvSpPr/>
          <p:nvPr/>
        </p:nvSpPr>
        <p:spPr>
          <a:xfrm>
            <a:off x="4846320" y="2560320"/>
            <a:ext cx="1508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24" name="Text 24"/>
          <p:cNvSpPr/>
          <p:nvPr/>
        </p:nvSpPr>
        <p:spPr>
          <a:xfrm>
            <a:off x="4937760" y="26974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1600" dirty="0"/>
          </a:p>
        </p:txBody>
      </p:sp>
      <p:sp>
        <p:nvSpPr>
          <p:cNvPr id="25" name="Text 25"/>
          <p:cNvSpPr/>
          <p:nvPr/>
        </p:nvSpPr>
        <p:spPr>
          <a:xfrm>
            <a:off x="4937760" y="31546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Spaces</a:t>
            </a:r>
            <a:endParaRPr lang="en-US" sz="900" dirty="0"/>
          </a:p>
        </p:txBody>
      </p:sp>
      <p:sp>
        <p:nvSpPr>
          <p:cNvPr id="26" name="Shape 26"/>
          <p:cNvSpPr/>
          <p:nvPr/>
        </p:nvSpPr>
        <p:spPr>
          <a:xfrm>
            <a:off x="6492240" y="2560320"/>
            <a:ext cx="1508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27" name="Text 27"/>
          <p:cNvSpPr/>
          <p:nvPr/>
        </p:nvSpPr>
        <p:spPr>
          <a:xfrm>
            <a:off x="6583680" y="26974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 (69%)</a:t>
            </a:r>
            <a:endParaRPr lang="en-US" sz="1600" dirty="0"/>
          </a:p>
        </p:txBody>
      </p:sp>
      <p:sp>
        <p:nvSpPr>
          <p:cNvPr id="28" name="Text 28"/>
          <p:cNvSpPr/>
          <p:nvPr/>
        </p:nvSpPr>
        <p:spPr>
          <a:xfrm>
            <a:off x="6583680" y="31546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Occupied</a:t>
            </a:r>
            <a:endParaRPr lang="en-US" sz="900" dirty="0"/>
          </a:p>
        </p:txBody>
      </p:sp>
      <p:sp>
        <p:nvSpPr>
          <p:cNvPr id="29" name="Shape 29"/>
          <p:cNvSpPr/>
          <p:nvPr/>
        </p:nvSpPr>
        <p:spPr>
          <a:xfrm>
            <a:off x="8138160" y="2560320"/>
            <a:ext cx="1508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30" name="Text 30"/>
          <p:cNvSpPr/>
          <p:nvPr/>
        </p:nvSpPr>
        <p:spPr>
          <a:xfrm>
            <a:off x="8229600" y="26974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</a:t>
            </a:r>
            <a:endParaRPr lang="en-US" sz="1600" dirty="0"/>
          </a:p>
        </p:txBody>
      </p:sp>
      <p:sp>
        <p:nvSpPr>
          <p:cNvPr id="31" name="Text 31"/>
          <p:cNvSpPr/>
          <p:nvPr/>
        </p:nvSpPr>
        <p:spPr>
          <a:xfrm>
            <a:off x="8229600" y="31546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Demand</a:t>
            </a:r>
            <a:endParaRPr lang="en-US" sz="900" dirty="0"/>
          </a:p>
        </p:txBody>
      </p:sp>
      <p:sp>
        <p:nvSpPr>
          <p:cNvPr id="32" name="Shape 32"/>
          <p:cNvSpPr/>
          <p:nvPr/>
        </p:nvSpPr>
        <p:spPr>
          <a:xfrm>
            <a:off x="9784080" y="2560320"/>
            <a:ext cx="1508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33" name="Text 33"/>
          <p:cNvSpPr/>
          <p:nvPr/>
        </p:nvSpPr>
        <p:spPr>
          <a:xfrm>
            <a:off x="9875520" y="26974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₹30/hr</a:t>
            </a:r>
            <a:endParaRPr lang="en-US" sz="1600" dirty="0"/>
          </a:p>
        </p:txBody>
      </p:sp>
      <p:sp>
        <p:nvSpPr>
          <p:cNvPr id="34" name="Text 34"/>
          <p:cNvSpPr/>
          <p:nvPr/>
        </p:nvSpPr>
        <p:spPr>
          <a:xfrm>
            <a:off x="9875520" y="31546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Price</a:t>
            </a:r>
            <a:endParaRPr lang="en-US" sz="900" dirty="0"/>
          </a:p>
        </p:txBody>
      </p:sp>
      <p:sp>
        <p:nvSpPr>
          <p:cNvPr id="35" name="Text 35"/>
          <p:cNvSpPr/>
          <p:nvPr/>
        </p:nvSpPr>
        <p:spPr>
          <a:xfrm>
            <a:off x="4846320" y="3886200"/>
            <a:ext cx="6537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Preview</a:t>
            </a:r>
            <a:endParaRPr lang="en-US" sz="1200" dirty="0"/>
          </a:p>
        </p:txBody>
      </p:sp>
      <p:sp>
        <p:nvSpPr>
          <p:cNvPr id="36" name="Shape 36"/>
          <p:cNvSpPr/>
          <p:nvPr/>
        </p:nvSpPr>
        <p:spPr>
          <a:xfrm>
            <a:off x="4846320" y="4251960"/>
            <a:ext cx="6537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37" name="Shape 37"/>
          <p:cNvSpPr/>
          <p:nvPr/>
        </p:nvSpPr>
        <p:spPr>
          <a:xfrm>
            <a:off x="5029200" y="4434840"/>
            <a:ext cx="457200" cy="457200"/>
          </a:xfrm>
          <a:prstGeom prst="ellipse">
            <a:avLst/>
          </a:prstGeom>
          <a:solidFill>
            <a:srgbClr val="E8892E"/>
          </a:solidFill>
          <a:ln/>
        </p:spPr>
      </p:sp>
      <p:pic>
        <p:nvPicPr>
          <p:cNvPr id="38" name="Image 0" descr="/home/claude/icons/b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72" y="4553712"/>
            <a:ext cx="219456" cy="219456"/>
          </a:xfrm>
          <a:prstGeom prst="rect">
            <a:avLst/>
          </a:prstGeom>
        </p:spPr>
      </p:pic>
      <p:sp>
        <p:nvSpPr>
          <p:cNvPr id="39" name="Text 38"/>
          <p:cNvSpPr/>
          <p:nvPr/>
        </p:nvSpPr>
        <p:spPr>
          <a:xfrm>
            <a:off x="5669280" y="4434840"/>
            <a:ext cx="5532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"Price at Central Mall Parking just changed to ₹30/hr — 46 spaces available."</a:t>
            </a:r>
            <a:endParaRPr lang="en-US" sz="1200" dirty="0"/>
          </a:p>
        </p:txBody>
      </p:sp>
      <p:pic>
        <p:nvPicPr>
          <p:cNvPr id="40" name="Google Shape;145;p1" descr="Saveetha School of Engineering, Chennai, Tamil Nadu - Careerin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5937" y="137651"/>
            <a:ext cx="982440" cy="129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04585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21385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>
          <a:xfrm>
            <a:off x="3988966" y="625651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Validation</a:t>
            </a:r>
            <a:endParaRPr lang="en-US" sz="3200" dirty="0"/>
          </a:p>
        </p:txBody>
      </p:sp>
      <p:sp>
        <p:nvSpPr>
          <p:cNvPr id="5" name="Text 5"/>
          <p:cNvSpPr/>
          <p:nvPr/>
        </p:nvSpPr>
        <p:spPr>
          <a:xfrm>
            <a:off x="502920" y="1600200"/>
            <a:ext cx="11155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unit testing of the pricing engine's threshold logic with integration testing across monitoring → pricing → notification.</a:t>
            </a:r>
            <a:endParaRPr lang="en-US" sz="1600" dirty="0"/>
          </a:p>
          <a:p>
            <a:pPr marL="0" indent="0">
              <a:lnSpc>
                <a:spcPct val="108000"/>
              </a:lnSpc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occupancy feeds exercise each demand tier; [Insert dataset / testbed description].</a:t>
            </a:r>
            <a:endParaRPr lang="en-US" sz="1600" dirty="0"/>
          </a:p>
        </p:txBody>
      </p:sp>
      <p:sp>
        <p:nvSpPr>
          <p:cNvPr id="6" name="Shape 6"/>
          <p:cNvSpPr/>
          <p:nvPr/>
        </p:nvSpPr>
        <p:spPr>
          <a:xfrm>
            <a:off x="502920" y="3200400"/>
            <a:ext cx="3063240" cy="411480"/>
          </a:xfrm>
          <a:prstGeom prst="rect">
            <a:avLst/>
          </a:prstGeom>
          <a:solidFill>
            <a:srgbClr val="1B3A6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7"/>
          <p:cNvSpPr/>
          <p:nvPr/>
        </p:nvSpPr>
        <p:spPr>
          <a:xfrm>
            <a:off x="576072" y="3200400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</a:t>
            </a:r>
            <a:endParaRPr lang="en-US" sz="1100" dirty="0"/>
          </a:p>
        </p:txBody>
      </p:sp>
      <p:sp>
        <p:nvSpPr>
          <p:cNvPr id="8" name="Shape 8"/>
          <p:cNvSpPr/>
          <p:nvPr/>
        </p:nvSpPr>
        <p:spPr>
          <a:xfrm>
            <a:off x="3566160" y="3200400"/>
            <a:ext cx="2743200" cy="411480"/>
          </a:xfrm>
          <a:prstGeom prst="rect">
            <a:avLst/>
          </a:prstGeom>
          <a:solidFill>
            <a:srgbClr val="1B3A6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9"/>
          <p:cNvSpPr/>
          <p:nvPr/>
        </p:nvSpPr>
        <p:spPr>
          <a:xfrm>
            <a:off x="3639312" y="3200400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Condition</a:t>
            </a:r>
            <a:endParaRPr lang="en-US" sz="1100" dirty="0"/>
          </a:p>
        </p:txBody>
      </p:sp>
      <p:sp>
        <p:nvSpPr>
          <p:cNvPr id="10" name="Shape 10"/>
          <p:cNvSpPr/>
          <p:nvPr/>
        </p:nvSpPr>
        <p:spPr>
          <a:xfrm>
            <a:off x="6309360" y="3200400"/>
            <a:ext cx="3749040" cy="411480"/>
          </a:xfrm>
          <a:prstGeom prst="rect">
            <a:avLst/>
          </a:prstGeom>
          <a:solidFill>
            <a:srgbClr val="1B3A6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11"/>
          <p:cNvSpPr/>
          <p:nvPr/>
        </p:nvSpPr>
        <p:spPr>
          <a:xfrm>
            <a:off x="6382512" y="3200400"/>
            <a:ext cx="3602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100" dirty="0"/>
          </a:p>
        </p:txBody>
      </p:sp>
      <p:sp>
        <p:nvSpPr>
          <p:cNvPr id="12" name="Shape 12"/>
          <p:cNvSpPr/>
          <p:nvPr/>
        </p:nvSpPr>
        <p:spPr>
          <a:xfrm>
            <a:off x="10058400" y="3200400"/>
            <a:ext cx="1600200" cy="411480"/>
          </a:xfrm>
          <a:prstGeom prst="rect">
            <a:avLst/>
          </a:prstGeom>
          <a:solidFill>
            <a:srgbClr val="1B3A6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3"/>
          <p:cNvSpPr/>
          <p:nvPr/>
        </p:nvSpPr>
        <p:spPr>
          <a:xfrm>
            <a:off x="10131552" y="3200400"/>
            <a:ext cx="1453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14" name="Shape 14"/>
          <p:cNvSpPr/>
          <p:nvPr/>
        </p:nvSpPr>
        <p:spPr>
          <a:xfrm>
            <a:off x="502920" y="3611880"/>
            <a:ext cx="3063240" cy="502920"/>
          </a:xfrm>
          <a:prstGeom prst="rect">
            <a:avLst/>
          </a:prstGeom>
          <a:solidFill>
            <a:srgbClr val="EAF1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5" name="Text 15"/>
          <p:cNvSpPr/>
          <p:nvPr/>
        </p:nvSpPr>
        <p:spPr>
          <a:xfrm>
            <a:off x="576072" y="3611880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TC-01 Low demand pricing</a:t>
            </a:r>
            <a:endParaRPr lang="en-US" sz="1050" dirty="0"/>
          </a:p>
        </p:txBody>
      </p:sp>
      <p:sp>
        <p:nvSpPr>
          <p:cNvPr id="16" name="Shape 16"/>
          <p:cNvSpPr/>
          <p:nvPr/>
        </p:nvSpPr>
        <p:spPr>
          <a:xfrm>
            <a:off x="3566160" y="3611880"/>
            <a:ext cx="2743200" cy="502920"/>
          </a:xfrm>
          <a:prstGeom prst="rect">
            <a:avLst/>
          </a:prstGeom>
          <a:solidFill>
            <a:srgbClr val="EAF1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7" name="Text 17"/>
          <p:cNvSpPr/>
          <p:nvPr/>
        </p:nvSpPr>
        <p:spPr>
          <a:xfrm>
            <a:off x="3639312" y="3611880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= 25%</a:t>
            </a:r>
            <a:endParaRPr lang="en-US" sz="1050" dirty="0"/>
          </a:p>
        </p:txBody>
      </p:sp>
      <p:sp>
        <p:nvSpPr>
          <p:cNvPr id="18" name="Shape 18"/>
          <p:cNvSpPr/>
          <p:nvPr/>
        </p:nvSpPr>
        <p:spPr>
          <a:xfrm>
            <a:off x="6309360" y="3611880"/>
            <a:ext cx="3749040" cy="502920"/>
          </a:xfrm>
          <a:prstGeom prst="rect">
            <a:avLst/>
          </a:prstGeom>
          <a:solidFill>
            <a:srgbClr val="EAF1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9" name="Text 19"/>
          <p:cNvSpPr/>
          <p:nvPr/>
        </p:nvSpPr>
        <p:spPr>
          <a:xfrm>
            <a:off x="6382512" y="3611880"/>
            <a:ext cx="3602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set to ₹20/hour</a:t>
            </a:r>
            <a:endParaRPr lang="en-US" sz="1050" dirty="0"/>
          </a:p>
        </p:txBody>
      </p:sp>
      <p:sp>
        <p:nvSpPr>
          <p:cNvPr id="20" name="Shape 20"/>
          <p:cNvSpPr/>
          <p:nvPr/>
        </p:nvSpPr>
        <p:spPr>
          <a:xfrm>
            <a:off x="10058400" y="3611880"/>
            <a:ext cx="1600200" cy="502920"/>
          </a:xfrm>
          <a:prstGeom prst="rect">
            <a:avLst/>
          </a:prstGeom>
          <a:solidFill>
            <a:srgbClr val="EAF1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1" name="Text 21"/>
          <p:cNvSpPr/>
          <p:nvPr/>
        </p:nvSpPr>
        <p:spPr>
          <a:xfrm>
            <a:off x="10131552" y="361188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FA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22" name="Shape 22"/>
          <p:cNvSpPr/>
          <p:nvPr/>
        </p:nvSpPr>
        <p:spPr>
          <a:xfrm>
            <a:off x="502920" y="4114800"/>
            <a:ext cx="3063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3" name="Text 23"/>
          <p:cNvSpPr/>
          <p:nvPr/>
        </p:nvSpPr>
        <p:spPr>
          <a:xfrm>
            <a:off x="576072" y="4114800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TC-02 Medium demand pricing</a:t>
            </a:r>
            <a:endParaRPr lang="en-US" sz="1050" dirty="0"/>
          </a:p>
        </p:txBody>
      </p:sp>
      <p:sp>
        <p:nvSpPr>
          <p:cNvPr id="24" name="Shape 24"/>
          <p:cNvSpPr/>
          <p:nvPr/>
        </p:nvSpPr>
        <p:spPr>
          <a:xfrm>
            <a:off x="3566160" y="411480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5" name="Text 25"/>
          <p:cNvSpPr/>
          <p:nvPr/>
        </p:nvSpPr>
        <p:spPr>
          <a:xfrm>
            <a:off x="3639312" y="4114800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= 55%</a:t>
            </a:r>
            <a:endParaRPr lang="en-US" sz="1050" dirty="0"/>
          </a:p>
        </p:txBody>
      </p:sp>
      <p:sp>
        <p:nvSpPr>
          <p:cNvPr id="26" name="Shape 26"/>
          <p:cNvSpPr/>
          <p:nvPr/>
        </p:nvSpPr>
        <p:spPr>
          <a:xfrm>
            <a:off x="6309360" y="4114800"/>
            <a:ext cx="3749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7" name="Text 27"/>
          <p:cNvSpPr/>
          <p:nvPr/>
        </p:nvSpPr>
        <p:spPr>
          <a:xfrm>
            <a:off x="6382512" y="4114800"/>
            <a:ext cx="3602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set to ₹30/hour</a:t>
            </a:r>
            <a:endParaRPr lang="en-US" sz="1050" dirty="0"/>
          </a:p>
        </p:txBody>
      </p:sp>
      <p:sp>
        <p:nvSpPr>
          <p:cNvPr id="28" name="Shape 28"/>
          <p:cNvSpPr/>
          <p:nvPr/>
        </p:nvSpPr>
        <p:spPr>
          <a:xfrm>
            <a:off x="10058400" y="4114800"/>
            <a:ext cx="1600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9" name="Text 29"/>
          <p:cNvSpPr/>
          <p:nvPr/>
        </p:nvSpPr>
        <p:spPr>
          <a:xfrm>
            <a:off x="10131552" y="411480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FA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30" name="Shape 30"/>
          <p:cNvSpPr/>
          <p:nvPr/>
        </p:nvSpPr>
        <p:spPr>
          <a:xfrm>
            <a:off x="502920" y="4617720"/>
            <a:ext cx="3063240" cy="502920"/>
          </a:xfrm>
          <a:prstGeom prst="rect">
            <a:avLst/>
          </a:prstGeom>
          <a:solidFill>
            <a:srgbClr val="EAF1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1" name="Text 31"/>
          <p:cNvSpPr/>
          <p:nvPr/>
        </p:nvSpPr>
        <p:spPr>
          <a:xfrm>
            <a:off x="576072" y="4617720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TC-03 High demand pricing</a:t>
            </a:r>
            <a:endParaRPr lang="en-US" sz="1050" dirty="0"/>
          </a:p>
        </p:txBody>
      </p:sp>
      <p:sp>
        <p:nvSpPr>
          <p:cNvPr id="32" name="Shape 32"/>
          <p:cNvSpPr/>
          <p:nvPr/>
        </p:nvSpPr>
        <p:spPr>
          <a:xfrm>
            <a:off x="3566160" y="4617720"/>
            <a:ext cx="2743200" cy="502920"/>
          </a:xfrm>
          <a:prstGeom prst="rect">
            <a:avLst/>
          </a:prstGeom>
          <a:solidFill>
            <a:srgbClr val="EAF1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3" name="Text 33"/>
          <p:cNvSpPr/>
          <p:nvPr/>
        </p:nvSpPr>
        <p:spPr>
          <a:xfrm>
            <a:off x="3639312" y="4617720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= 88%</a:t>
            </a:r>
            <a:endParaRPr lang="en-US" sz="1050" dirty="0"/>
          </a:p>
        </p:txBody>
      </p:sp>
      <p:sp>
        <p:nvSpPr>
          <p:cNvPr id="34" name="Shape 34"/>
          <p:cNvSpPr/>
          <p:nvPr/>
        </p:nvSpPr>
        <p:spPr>
          <a:xfrm>
            <a:off x="6309360" y="4617720"/>
            <a:ext cx="3749040" cy="502920"/>
          </a:xfrm>
          <a:prstGeom prst="rect">
            <a:avLst/>
          </a:prstGeom>
          <a:solidFill>
            <a:srgbClr val="EAF1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5" name="Text 35"/>
          <p:cNvSpPr/>
          <p:nvPr/>
        </p:nvSpPr>
        <p:spPr>
          <a:xfrm>
            <a:off x="6382512" y="4617720"/>
            <a:ext cx="3602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set to ₹45/hour</a:t>
            </a:r>
            <a:endParaRPr lang="en-US" sz="1050" dirty="0"/>
          </a:p>
        </p:txBody>
      </p:sp>
      <p:sp>
        <p:nvSpPr>
          <p:cNvPr id="36" name="Shape 36"/>
          <p:cNvSpPr/>
          <p:nvPr/>
        </p:nvSpPr>
        <p:spPr>
          <a:xfrm>
            <a:off x="10058400" y="4617720"/>
            <a:ext cx="1600200" cy="502920"/>
          </a:xfrm>
          <a:prstGeom prst="rect">
            <a:avLst/>
          </a:prstGeom>
          <a:solidFill>
            <a:srgbClr val="EAF1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7" name="Text 37"/>
          <p:cNvSpPr/>
          <p:nvPr/>
        </p:nvSpPr>
        <p:spPr>
          <a:xfrm>
            <a:off x="10131552" y="461772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FA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38" name="Shape 38"/>
          <p:cNvSpPr/>
          <p:nvPr/>
        </p:nvSpPr>
        <p:spPr>
          <a:xfrm>
            <a:off x="502920" y="5120640"/>
            <a:ext cx="3063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9" name="Text 39"/>
          <p:cNvSpPr/>
          <p:nvPr/>
        </p:nvSpPr>
        <p:spPr>
          <a:xfrm>
            <a:off x="576072" y="5120640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TC-04 Notification delivery</a:t>
            </a:r>
            <a:endParaRPr lang="en-US" sz="1050" dirty="0"/>
          </a:p>
        </p:txBody>
      </p:sp>
      <p:sp>
        <p:nvSpPr>
          <p:cNvPr id="40" name="Shape 40"/>
          <p:cNvSpPr/>
          <p:nvPr/>
        </p:nvSpPr>
        <p:spPr>
          <a:xfrm>
            <a:off x="3566160" y="512064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41" name="Text 41"/>
          <p:cNvSpPr/>
          <p:nvPr/>
        </p:nvSpPr>
        <p:spPr>
          <a:xfrm>
            <a:off x="3639312" y="5120640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change event</a:t>
            </a:r>
            <a:endParaRPr lang="en-US" sz="1050" dirty="0"/>
          </a:p>
        </p:txBody>
      </p:sp>
      <p:sp>
        <p:nvSpPr>
          <p:cNvPr id="42" name="Shape 42"/>
          <p:cNvSpPr/>
          <p:nvPr/>
        </p:nvSpPr>
        <p:spPr>
          <a:xfrm>
            <a:off x="6309360" y="5120640"/>
            <a:ext cx="3749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43" name="Text 43"/>
          <p:cNvSpPr/>
          <p:nvPr/>
        </p:nvSpPr>
        <p:spPr>
          <a:xfrm>
            <a:off x="6382512" y="5120640"/>
            <a:ext cx="3602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notified within target latency</a:t>
            </a:r>
            <a:endParaRPr lang="en-US" sz="1050" dirty="0"/>
          </a:p>
        </p:txBody>
      </p:sp>
      <p:sp>
        <p:nvSpPr>
          <p:cNvPr id="44" name="Shape 44"/>
          <p:cNvSpPr/>
          <p:nvPr/>
        </p:nvSpPr>
        <p:spPr>
          <a:xfrm>
            <a:off x="10058400" y="5120640"/>
            <a:ext cx="1600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45" name="Text 45"/>
          <p:cNvSpPr/>
          <p:nvPr/>
        </p:nvSpPr>
        <p:spPr>
          <a:xfrm>
            <a:off x="10131552" y="512064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[Insert]</a:t>
            </a:r>
            <a:endParaRPr lang="en-US" sz="1050" dirty="0"/>
          </a:p>
        </p:txBody>
      </p:sp>
      <p:sp>
        <p:nvSpPr>
          <p:cNvPr id="46" name="Shape 46"/>
          <p:cNvSpPr/>
          <p:nvPr/>
        </p:nvSpPr>
        <p:spPr>
          <a:xfrm>
            <a:off x="502920" y="5623560"/>
            <a:ext cx="3063240" cy="502920"/>
          </a:xfrm>
          <a:prstGeom prst="rect">
            <a:avLst/>
          </a:prstGeom>
          <a:solidFill>
            <a:srgbClr val="EAF1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47" name="Text 47"/>
          <p:cNvSpPr/>
          <p:nvPr/>
        </p:nvSpPr>
        <p:spPr>
          <a:xfrm>
            <a:off x="576072" y="5623560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TC-05 Booking confirmation</a:t>
            </a:r>
            <a:endParaRPr lang="en-US" sz="1050" dirty="0"/>
          </a:p>
        </p:txBody>
      </p:sp>
      <p:sp>
        <p:nvSpPr>
          <p:cNvPr id="48" name="Shape 48"/>
          <p:cNvSpPr/>
          <p:nvPr/>
        </p:nvSpPr>
        <p:spPr>
          <a:xfrm>
            <a:off x="3566160" y="5623560"/>
            <a:ext cx="2743200" cy="502920"/>
          </a:xfrm>
          <a:prstGeom prst="rect">
            <a:avLst/>
          </a:prstGeom>
          <a:solidFill>
            <a:srgbClr val="EAF1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49" name="Text 49"/>
          <p:cNvSpPr/>
          <p:nvPr/>
        </p:nvSpPr>
        <p:spPr>
          <a:xfrm>
            <a:off x="3639312" y="5623560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selected &amp; paid</a:t>
            </a:r>
            <a:endParaRPr lang="en-US" sz="1050" dirty="0"/>
          </a:p>
        </p:txBody>
      </p:sp>
      <p:sp>
        <p:nvSpPr>
          <p:cNvPr id="50" name="Shape 50"/>
          <p:cNvSpPr/>
          <p:nvPr/>
        </p:nvSpPr>
        <p:spPr>
          <a:xfrm>
            <a:off x="6309360" y="5623560"/>
            <a:ext cx="3749040" cy="502920"/>
          </a:xfrm>
          <a:prstGeom prst="rect">
            <a:avLst/>
          </a:prstGeom>
          <a:solidFill>
            <a:srgbClr val="EAF1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1" name="Text 51"/>
          <p:cNvSpPr/>
          <p:nvPr/>
        </p:nvSpPr>
        <p:spPr>
          <a:xfrm>
            <a:off x="6382512" y="5623560"/>
            <a:ext cx="3602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confirmed, occupancy updated</a:t>
            </a:r>
            <a:endParaRPr lang="en-US" sz="1050" dirty="0"/>
          </a:p>
        </p:txBody>
      </p:sp>
      <p:sp>
        <p:nvSpPr>
          <p:cNvPr id="52" name="Shape 52"/>
          <p:cNvSpPr/>
          <p:nvPr/>
        </p:nvSpPr>
        <p:spPr>
          <a:xfrm>
            <a:off x="10058400" y="5623560"/>
            <a:ext cx="1600200" cy="502920"/>
          </a:xfrm>
          <a:prstGeom prst="rect">
            <a:avLst/>
          </a:prstGeom>
          <a:solidFill>
            <a:srgbClr val="EAF1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3" name="Text 53"/>
          <p:cNvSpPr/>
          <p:nvPr/>
        </p:nvSpPr>
        <p:spPr>
          <a:xfrm>
            <a:off x="10131552" y="562356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[Insert]</a:t>
            </a:r>
            <a:endParaRPr lang="en-US" sz="1050" dirty="0"/>
          </a:p>
        </p:txBody>
      </p:sp>
      <p:pic>
        <p:nvPicPr>
          <p:cNvPr id="54" name="Google Shape;145;p1" descr="Saveetha School of Engineering, Chennai, Tamil Nadu - Careerin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5937" y="137651"/>
            <a:ext cx="982440" cy="129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04585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737950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702C45E-2F14-9E43-6382-6AB66795B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FC7B05D-13DF-26EB-3C68-43E3C14EA285}"/>
              </a:ext>
            </a:extLst>
          </p:cNvPr>
          <p:cNvSpPr txBox="1"/>
          <p:nvPr/>
        </p:nvSpPr>
        <p:spPr>
          <a:xfrm>
            <a:off x="2490954" y="349240"/>
            <a:ext cx="72100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Expected Outcomes &amp; Impact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Saveetha School of Engineering, Chennai, Tamil Nadu - Careerindia">
            <a:extLst>
              <a:ext uri="{FF2B5EF4-FFF2-40B4-BE49-F238E27FC236}">
                <a16:creationId xmlns:a16="http://schemas.microsoft.com/office/drawing/2014/main" xmlns="" id="{E701F979-E353-48FE-DB48-4301D55080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17" y="137651"/>
            <a:ext cx="982441" cy="129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CFP: Conference on Smart &amp; Modernisation Techniques @ Saveetha University,  Chennai [Mar 16-17] : Submit by Jan 8 - NoticeBard | Home">
            <a:extLst>
              <a:ext uri="{FF2B5EF4-FFF2-40B4-BE49-F238E27FC236}">
                <a16:creationId xmlns:a16="http://schemas.microsoft.com/office/drawing/2014/main" xmlns="" id="{74E01D4D-512F-F9FE-9088-B47099BA7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2507" y="-563092"/>
            <a:ext cx="3052177" cy="253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hape 2">
            <a:extLst>
              <a:ext uri="{FF2B5EF4-FFF2-40B4-BE49-F238E27FC236}">
                <a16:creationId xmlns:a16="http://schemas.microsoft.com/office/drawing/2014/main" xmlns="" id="{CA6BF162-8140-00E0-78FD-F48EAC03B5B9}"/>
              </a:ext>
            </a:extLst>
          </p:cNvPr>
          <p:cNvSpPr/>
          <p:nvPr/>
        </p:nvSpPr>
        <p:spPr>
          <a:xfrm>
            <a:off x="1562919" y="1967877"/>
            <a:ext cx="2612841" cy="2179051"/>
          </a:xfrm>
          <a:prstGeom prst="roundRect">
            <a:avLst>
              <a:gd name="adj" fmla="val 294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8" name="Text 3">
            <a:extLst>
              <a:ext uri="{FF2B5EF4-FFF2-40B4-BE49-F238E27FC236}">
                <a16:creationId xmlns:a16="http://schemas.microsoft.com/office/drawing/2014/main" xmlns="" id="{7D5082D8-79EC-3C49-E12A-213E5C83EE07}"/>
              </a:ext>
            </a:extLst>
          </p:cNvPr>
          <p:cNvSpPr/>
          <p:nvPr/>
        </p:nvSpPr>
        <p:spPr>
          <a:xfrm>
            <a:off x="1702742" y="2109283"/>
            <a:ext cx="20173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Deliverables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xmlns="" id="{B9BCB2A4-7F8E-4201-29E6-37CF9362E3DD}"/>
              </a:ext>
            </a:extLst>
          </p:cNvPr>
          <p:cNvSpPr/>
          <p:nvPr/>
        </p:nvSpPr>
        <p:spPr>
          <a:xfrm>
            <a:off x="1842567" y="2397637"/>
            <a:ext cx="2157189" cy="2092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Fully functional dynamic pricing system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Trained and validated ML demand prediction model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Research paper and technical documentation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xmlns="" id="{1D206B13-F4C9-9489-2490-8FB483719D37}"/>
              </a:ext>
            </a:extLst>
          </p:cNvPr>
          <p:cNvSpPr/>
          <p:nvPr/>
        </p:nvSpPr>
        <p:spPr>
          <a:xfrm>
            <a:off x="4527921" y="1985977"/>
            <a:ext cx="2827486" cy="2179051"/>
          </a:xfrm>
          <a:prstGeom prst="roundRect">
            <a:avLst>
              <a:gd name="adj" fmla="val 294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5" name="Text 6">
            <a:extLst>
              <a:ext uri="{FF2B5EF4-FFF2-40B4-BE49-F238E27FC236}">
                <a16:creationId xmlns:a16="http://schemas.microsoft.com/office/drawing/2014/main" xmlns="" id="{78A6D1B4-9B4D-3C36-210D-8301F9B542CD}"/>
              </a:ext>
            </a:extLst>
          </p:cNvPr>
          <p:cNvSpPr/>
          <p:nvPr/>
        </p:nvSpPr>
        <p:spPr>
          <a:xfrm>
            <a:off x="4761121" y="2037193"/>
            <a:ext cx="20173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Benefits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xmlns="" id="{1B650708-9B9C-B882-E45A-A2126B19C8E7}"/>
              </a:ext>
            </a:extLst>
          </p:cNvPr>
          <p:cNvSpPr/>
          <p:nvPr/>
        </p:nvSpPr>
        <p:spPr>
          <a:xfrm>
            <a:off x="4779419" y="2397637"/>
            <a:ext cx="2434868" cy="1715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Reduced parking search time for drivers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Optimized parking revenue for city authorities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Lower vehicle emissions from reduced cruising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xmlns="" id="{061BB3A9-B376-96AA-C2F2-4B0453D6C1D8}"/>
              </a:ext>
            </a:extLst>
          </p:cNvPr>
          <p:cNvSpPr/>
          <p:nvPr/>
        </p:nvSpPr>
        <p:spPr>
          <a:xfrm>
            <a:off x="1562920" y="4411761"/>
            <a:ext cx="5792488" cy="1291382"/>
          </a:xfrm>
          <a:prstGeom prst="roundRect">
            <a:avLst>
              <a:gd name="adj" fmla="val 439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1" name="Text 9">
            <a:extLst>
              <a:ext uri="{FF2B5EF4-FFF2-40B4-BE49-F238E27FC236}">
                <a16:creationId xmlns:a16="http://schemas.microsoft.com/office/drawing/2014/main" xmlns="" id="{6E434BE6-4752-EEA1-2F4D-7977DBC351D8}"/>
              </a:ext>
            </a:extLst>
          </p:cNvPr>
          <p:cNvSpPr/>
          <p:nvPr/>
        </p:nvSpPr>
        <p:spPr>
          <a:xfrm>
            <a:off x="1778198" y="4489231"/>
            <a:ext cx="444311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Future Work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xmlns="" id="{95837236-3F0E-817E-90DC-25B0547FA955}"/>
              </a:ext>
            </a:extLst>
          </p:cNvPr>
          <p:cNvSpPr/>
          <p:nvPr/>
        </p:nvSpPr>
        <p:spPr>
          <a:xfrm>
            <a:off x="1954202" y="4777814"/>
            <a:ext cx="5188278" cy="925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Multi-city and multi-zone deployment at scale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Integration with autonomous vehicle routing systems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[Additional extensions — EV charging, public transit linkage]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89F3A2E0-9912-4838-BB9C-D1BE6B1556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5055" y="1757679"/>
            <a:ext cx="4150545" cy="430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7227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>
          <a:xfrm>
            <a:off x="2788920" y="78181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with Existing Solutions</a:t>
            </a:r>
            <a:endParaRPr lang="en-US" sz="3200" dirty="0"/>
          </a:p>
        </p:txBody>
      </p:sp>
      <p:sp>
        <p:nvSpPr>
          <p:cNvPr id="5" name="Shape 5"/>
          <p:cNvSpPr/>
          <p:nvPr/>
        </p:nvSpPr>
        <p:spPr>
          <a:xfrm>
            <a:off x="502920" y="1691640"/>
            <a:ext cx="3108960" cy="502920"/>
          </a:xfrm>
          <a:prstGeom prst="rect">
            <a:avLst/>
          </a:prstGeom>
          <a:solidFill>
            <a:srgbClr val="1B3A6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6"/>
          <p:cNvSpPr/>
          <p:nvPr/>
        </p:nvSpPr>
        <p:spPr>
          <a:xfrm>
            <a:off x="594360" y="1691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200" dirty="0"/>
          </a:p>
        </p:txBody>
      </p:sp>
      <p:sp>
        <p:nvSpPr>
          <p:cNvPr id="7" name="Shape 7"/>
          <p:cNvSpPr/>
          <p:nvPr/>
        </p:nvSpPr>
        <p:spPr>
          <a:xfrm>
            <a:off x="3611880" y="1691640"/>
            <a:ext cx="4023360" cy="502920"/>
          </a:xfrm>
          <a:prstGeom prst="rect">
            <a:avLst/>
          </a:prstGeom>
          <a:solidFill>
            <a:srgbClr val="1B3A6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8"/>
          <p:cNvSpPr/>
          <p:nvPr/>
        </p:nvSpPr>
        <p:spPr>
          <a:xfrm>
            <a:off x="3703320" y="16916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Pricing (Existing)</a:t>
            </a:r>
            <a:endParaRPr lang="en-US" sz="1200" dirty="0"/>
          </a:p>
        </p:txBody>
      </p:sp>
      <p:sp>
        <p:nvSpPr>
          <p:cNvPr id="9" name="Shape 9"/>
          <p:cNvSpPr/>
          <p:nvPr/>
        </p:nvSpPr>
        <p:spPr>
          <a:xfrm>
            <a:off x="7635240" y="1691640"/>
            <a:ext cx="4023360" cy="502920"/>
          </a:xfrm>
          <a:prstGeom prst="rect">
            <a:avLst/>
          </a:prstGeom>
          <a:solidFill>
            <a:srgbClr val="1B3A6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10"/>
          <p:cNvSpPr/>
          <p:nvPr/>
        </p:nvSpPr>
        <p:spPr>
          <a:xfrm>
            <a:off x="7726680" y="16916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Dynamic System</a:t>
            </a:r>
            <a:endParaRPr lang="en-US" sz="1200" dirty="0"/>
          </a:p>
        </p:txBody>
      </p:sp>
      <p:sp>
        <p:nvSpPr>
          <p:cNvPr id="11" name="Shape 11"/>
          <p:cNvSpPr/>
          <p:nvPr/>
        </p:nvSpPr>
        <p:spPr>
          <a:xfrm>
            <a:off x="502920" y="2194560"/>
            <a:ext cx="3108960" cy="621792"/>
          </a:xfrm>
          <a:prstGeom prst="rect">
            <a:avLst/>
          </a:prstGeom>
          <a:solidFill>
            <a:srgbClr val="EAF1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2" name="Text 12"/>
          <p:cNvSpPr/>
          <p:nvPr/>
        </p:nvSpPr>
        <p:spPr>
          <a:xfrm>
            <a:off x="594360" y="219456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Adaptation</a:t>
            </a:r>
            <a:endParaRPr lang="en-US" sz="1050" dirty="0"/>
          </a:p>
        </p:txBody>
      </p:sp>
      <p:sp>
        <p:nvSpPr>
          <p:cNvPr id="13" name="Shape 13"/>
          <p:cNvSpPr/>
          <p:nvPr/>
        </p:nvSpPr>
        <p:spPr>
          <a:xfrm>
            <a:off x="3611880" y="2194560"/>
            <a:ext cx="4023360" cy="621792"/>
          </a:xfrm>
          <a:prstGeom prst="rect">
            <a:avLst/>
          </a:prstGeom>
          <a:solidFill>
            <a:srgbClr val="EAF1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4" name="Text 14"/>
          <p:cNvSpPr/>
          <p:nvPr/>
        </p:nvSpPr>
        <p:spPr>
          <a:xfrm>
            <a:off x="3703320" y="219456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price fixed regardless of demand</a:t>
            </a:r>
            <a:endParaRPr lang="en-US" sz="1050" dirty="0"/>
          </a:p>
        </p:txBody>
      </p:sp>
      <p:sp>
        <p:nvSpPr>
          <p:cNvPr id="15" name="Shape 15"/>
          <p:cNvSpPr/>
          <p:nvPr/>
        </p:nvSpPr>
        <p:spPr>
          <a:xfrm>
            <a:off x="7635240" y="2194560"/>
            <a:ext cx="4023360" cy="621792"/>
          </a:xfrm>
          <a:prstGeom prst="rect">
            <a:avLst/>
          </a:prstGeom>
          <a:solidFill>
            <a:srgbClr val="FCEFDE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6" name="Text 16"/>
          <p:cNvSpPr/>
          <p:nvPr/>
        </p:nvSpPr>
        <p:spPr>
          <a:xfrm>
            <a:off x="7726680" y="219456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recalculated from live occupancy</a:t>
            </a:r>
            <a:endParaRPr lang="en-US" sz="1050" dirty="0"/>
          </a:p>
        </p:txBody>
      </p:sp>
      <p:sp>
        <p:nvSpPr>
          <p:cNvPr id="17" name="Shape 17"/>
          <p:cNvSpPr/>
          <p:nvPr/>
        </p:nvSpPr>
        <p:spPr>
          <a:xfrm>
            <a:off x="502920" y="2816352"/>
            <a:ext cx="3108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8" name="Text 18"/>
          <p:cNvSpPr/>
          <p:nvPr/>
        </p:nvSpPr>
        <p:spPr>
          <a:xfrm>
            <a:off x="594360" y="281635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Prediction</a:t>
            </a:r>
            <a:endParaRPr lang="en-US" sz="1050" dirty="0"/>
          </a:p>
        </p:txBody>
      </p:sp>
      <p:sp>
        <p:nvSpPr>
          <p:cNvPr id="19" name="Shape 19"/>
          <p:cNvSpPr/>
          <p:nvPr/>
        </p:nvSpPr>
        <p:spPr>
          <a:xfrm>
            <a:off x="3611880" y="2816352"/>
            <a:ext cx="4023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0" name="Text 20"/>
          <p:cNvSpPr/>
          <p:nvPr/>
        </p:nvSpPr>
        <p:spPr>
          <a:xfrm>
            <a:off x="3703320" y="281635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supported</a:t>
            </a:r>
            <a:endParaRPr lang="en-US" sz="1050" dirty="0"/>
          </a:p>
        </p:txBody>
      </p:sp>
      <p:sp>
        <p:nvSpPr>
          <p:cNvPr id="21" name="Shape 21"/>
          <p:cNvSpPr/>
          <p:nvPr/>
        </p:nvSpPr>
        <p:spPr>
          <a:xfrm>
            <a:off x="7635240" y="2816352"/>
            <a:ext cx="4023360" cy="621792"/>
          </a:xfrm>
          <a:prstGeom prst="rect">
            <a:avLst/>
          </a:prstGeom>
          <a:solidFill>
            <a:srgbClr val="FCEFDE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2" name="Text 22"/>
          <p:cNvSpPr/>
          <p:nvPr/>
        </p:nvSpPr>
        <p:spPr>
          <a:xfrm>
            <a:off x="7726680" y="281635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prediction drives pricing</a:t>
            </a:r>
            <a:endParaRPr lang="en-US" sz="1050" dirty="0"/>
          </a:p>
        </p:txBody>
      </p:sp>
      <p:sp>
        <p:nvSpPr>
          <p:cNvPr id="23" name="Shape 23"/>
          <p:cNvSpPr/>
          <p:nvPr/>
        </p:nvSpPr>
        <p:spPr>
          <a:xfrm>
            <a:off x="502920" y="3438144"/>
            <a:ext cx="3108960" cy="621792"/>
          </a:xfrm>
          <a:prstGeom prst="rect">
            <a:avLst/>
          </a:prstGeom>
          <a:solidFill>
            <a:srgbClr val="EAF1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4" name="Text 24"/>
          <p:cNvSpPr/>
          <p:nvPr/>
        </p:nvSpPr>
        <p:spPr>
          <a:xfrm>
            <a:off x="594360" y="343814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Utilization</a:t>
            </a:r>
            <a:endParaRPr lang="en-US" sz="1050" dirty="0"/>
          </a:p>
        </p:txBody>
      </p:sp>
      <p:sp>
        <p:nvSpPr>
          <p:cNvPr id="25" name="Shape 25"/>
          <p:cNvSpPr/>
          <p:nvPr/>
        </p:nvSpPr>
        <p:spPr>
          <a:xfrm>
            <a:off x="3611880" y="3438144"/>
            <a:ext cx="4023360" cy="621792"/>
          </a:xfrm>
          <a:prstGeom prst="rect">
            <a:avLst/>
          </a:prstGeom>
          <a:solidFill>
            <a:srgbClr val="EAF1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6" name="Text 26"/>
          <p:cNvSpPr/>
          <p:nvPr/>
        </p:nvSpPr>
        <p:spPr>
          <a:xfrm>
            <a:off x="3703320" y="343814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— some lots overflow, others idle</a:t>
            </a:r>
            <a:endParaRPr lang="en-US" sz="1050" dirty="0"/>
          </a:p>
        </p:txBody>
      </p:sp>
      <p:sp>
        <p:nvSpPr>
          <p:cNvPr id="27" name="Shape 27"/>
          <p:cNvSpPr/>
          <p:nvPr/>
        </p:nvSpPr>
        <p:spPr>
          <a:xfrm>
            <a:off x="7635240" y="3438144"/>
            <a:ext cx="4023360" cy="621792"/>
          </a:xfrm>
          <a:prstGeom prst="rect">
            <a:avLst/>
          </a:prstGeom>
          <a:solidFill>
            <a:srgbClr val="FCEFDE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8" name="Text 28"/>
          <p:cNvSpPr/>
          <p:nvPr/>
        </p:nvSpPr>
        <p:spPr>
          <a:xfrm>
            <a:off x="7726680" y="343814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Redistributes demand toward underused lots</a:t>
            </a:r>
            <a:endParaRPr lang="en-US" sz="1050" dirty="0"/>
          </a:p>
        </p:txBody>
      </p:sp>
      <p:sp>
        <p:nvSpPr>
          <p:cNvPr id="29" name="Shape 29"/>
          <p:cNvSpPr/>
          <p:nvPr/>
        </p:nvSpPr>
        <p:spPr>
          <a:xfrm>
            <a:off x="502920" y="4059936"/>
            <a:ext cx="3108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0" name="Text 30"/>
          <p:cNvSpPr/>
          <p:nvPr/>
        </p:nvSpPr>
        <p:spPr>
          <a:xfrm>
            <a:off x="594360" y="4059936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Notifications</a:t>
            </a:r>
            <a:endParaRPr lang="en-US" sz="1050" dirty="0"/>
          </a:p>
        </p:txBody>
      </p:sp>
      <p:sp>
        <p:nvSpPr>
          <p:cNvPr id="31" name="Shape 31"/>
          <p:cNvSpPr/>
          <p:nvPr/>
        </p:nvSpPr>
        <p:spPr>
          <a:xfrm>
            <a:off x="3611880" y="4059936"/>
            <a:ext cx="4023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2" name="Text 32"/>
          <p:cNvSpPr/>
          <p:nvPr/>
        </p:nvSpPr>
        <p:spPr>
          <a:xfrm>
            <a:off x="3703320" y="405993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available</a:t>
            </a:r>
            <a:endParaRPr lang="en-US" sz="1050" dirty="0"/>
          </a:p>
        </p:txBody>
      </p:sp>
      <p:sp>
        <p:nvSpPr>
          <p:cNvPr id="33" name="Shape 33"/>
          <p:cNvSpPr/>
          <p:nvPr/>
        </p:nvSpPr>
        <p:spPr>
          <a:xfrm>
            <a:off x="7635240" y="4059936"/>
            <a:ext cx="4023360" cy="621792"/>
          </a:xfrm>
          <a:prstGeom prst="rect">
            <a:avLst/>
          </a:prstGeom>
          <a:solidFill>
            <a:srgbClr val="FCEFDE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4" name="Text 34"/>
          <p:cNvSpPr/>
          <p:nvPr/>
        </p:nvSpPr>
        <p:spPr>
          <a:xfrm>
            <a:off x="7726680" y="405993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price &amp; availability alerts</a:t>
            </a:r>
            <a:endParaRPr lang="en-US" sz="1050" dirty="0"/>
          </a:p>
        </p:txBody>
      </p:sp>
      <p:sp>
        <p:nvSpPr>
          <p:cNvPr id="35" name="Shape 35"/>
          <p:cNvSpPr/>
          <p:nvPr/>
        </p:nvSpPr>
        <p:spPr>
          <a:xfrm>
            <a:off x="502920" y="4681728"/>
            <a:ext cx="3108960" cy="621792"/>
          </a:xfrm>
          <a:prstGeom prst="rect">
            <a:avLst/>
          </a:prstGeom>
          <a:solidFill>
            <a:srgbClr val="EAF1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6" name="Text 36"/>
          <p:cNvSpPr/>
          <p:nvPr/>
        </p:nvSpPr>
        <p:spPr>
          <a:xfrm>
            <a:off x="594360" y="468172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Support</a:t>
            </a:r>
            <a:endParaRPr lang="en-US" sz="1050" dirty="0"/>
          </a:p>
        </p:txBody>
      </p:sp>
      <p:sp>
        <p:nvSpPr>
          <p:cNvPr id="37" name="Shape 37"/>
          <p:cNvSpPr/>
          <p:nvPr/>
        </p:nvSpPr>
        <p:spPr>
          <a:xfrm>
            <a:off x="3611880" y="4681728"/>
            <a:ext cx="4023360" cy="621792"/>
          </a:xfrm>
          <a:prstGeom prst="rect">
            <a:avLst/>
          </a:prstGeom>
          <a:solidFill>
            <a:srgbClr val="EAF1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8" name="Text 38"/>
          <p:cNvSpPr/>
          <p:nvPr/>
        </p:nvSpPr>
        <p:spPr>
          <a:xfrm>
            <a:off x="3703320" y="468172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none</a:t>
            </a:r>
            <a:endParaRPr lang="en-US" sz="1050" dirty="0"/>
          </a:p>
        </p:txBody>
      </p:sp>
      <p:sp>
        <p:nvSpPr>
          <p:cNvPr id="39" name="Shape 39"/>
          <p:cNvSpPr/>
          <p:nvPr/>
        </p:nvSpPr>
        <p:spPr>
          <a:xfrm>
            <a:off x="7635240" y="4681728"/>
            <a:ext cx="4023360" cy="621792"/>
          </a:xfrm>
          <a:prstGeom prst="rect">
            <a:avLst/>
          </a:prstGeom>
          <a:solidFill>
            <a:srgbClr val="FCEFDE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40" name="Text 40"/>
          <p:cNvSpPr/>
          <p:nvPr/>
        </p:nvSpPr>
        <p:spPr>
          <a:xfrm>
            <a:off x="7726680" y="468172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search → book → confirm flow</a:t>
            </a:r>
            <a:endParaRPr lang="en-US" sz="1050" dirty="0"/>
          </a:p>
        </p:txBody>
      </p:sp>
      <p:sp>
        <p:nvSpPr>
          <p:cNvPr id="41" name="Shape 41"/>
          <p:cNvSpPr/>
          <p:nvPr/>
        </p:nvSpPr>
        <p:spPr>
          <a:xfrm>
            <a:off x="502920" y="5303520"/>
            <a:ext cx="3108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42" name="Text 42"/>
          <p:cNvSpPr/>
          <p:nvPr/>
        </p:nvSpPr>
        <p:spPr>
          <a:xfrm>
            <a:off x="594360" y="530352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050" dirty="0"/>
          </a:p>
        </p:txBody>
      </p:sp>
      <p:sp>
        <p:nvSpPr>
          <p:cNvPr id="43" name="Shape 43"/>
          <p:cNvSpPr/>
          <p:nvPr/>
        </p:nvSpPr>
        <p:spPr>
          <a:xfrm>
            <a:off x="3611880" y="5303520"/>
            <a:ext cx="4023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44" name="Text 44"/>
          <p:cNvSpPr/>
          <p:nvPr/>
        </p:nvSpPr>
        <p:spPr>
          <a:xfrm>
            <a:off x="3703320" y="530352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Per-lot manual tariff changes</a:t>
            </a:r>
            <a:endParaRPr lang="en-US" sz="1050" dirty="0"/>
          </a:p>
        </p:txBody>
      </p:sp>
      <p:sp>
        <p:nvSpPr>
          <p:cNvPr id="45" name="Shape 45"/>
          <p:cNvSpPr/>
          <p:nvPr/>
        </p:nvSpPr>
        <p:spPr>
          <a:xfrm>
            <a:off x="7635240" y="5303520"/>
            <a:ext cx="4023360" cy="621792"/>
          </a:xfrm>
          <a:prstGeom prst="rect">
            <a:avLst/>
          </a:prstGeom>
          <a:solidFill>
            <a:srgbClr val="FCEFDE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46" name="Text 46"/>
          <p:cNvSpPr/>
          <p:nvPr/>
        </p:nvSpPr>
        <p:spPr>
          <a:xfrm>
            <a:off x="7726680" y="530352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engine scales across zones</a:t>
            </a:r>
            <a:endParaRPr lang="en-US" sz="1050" dirty="0"/>
          </a:p>
        </p:txBody>
      </p:sp>
      <p:pic>
        <p:nvPicPr>
          <p:cNvPr id="47" name="Google Shape;145;p1" descr="Saveetha School of Engineering, Chennai, Tamil Nadu - Careerin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5937" y="137651"/>
            <a:ext cx="982440" cy="129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04585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99574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>
          <a:xfrm>
            <a:off x="2420224" y="603504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Engineering Decisions</a:t>
            </a:r>
            <a:endParaRPr lang="en-US" sz="3200" dirty="0"/>
          </a:p>
        </p:txBody>
      </p:sp>
      <p:sp>
        <p:nvSpPr>
          <p:cNvPr id="4" name="Text 4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5" name="Shape 5"/>
          <p:cNvSpPr/>
          <p:nvPr/>
        </p:nvSpPr>
        <p:spPr>
          <a:xfrm>
            <a:off x="502920" y="1645920"/>
            <a:ext cx="5468112" cy="1298448"/>
          </a:xfrm>
          <a:prstGeom prst="roundRect">
            <a:avLst>
              <a:gd name="adj" fmla="val 5634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6" name="Text 6"/>
          <p:cNvSpPr/>
          <p:nvPr/>
        </p:nvSpPr>
        <p:spPr>
          <a:xfrm>
            <a:off x="731520" y="1773936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Handling</a:t>
            </a:r>
            <a:endParaRPr lang="en-US" sz="1600" dirty="0"/>
          </a:p>
        </p:txBody>
      </p:sp>
      <p:sp>
        <p:nvSpPr>
          <p:cNvPr id="7" name="Text 7"/>
          <p:cNvSpPr/>
          <p:nvPr/>
        </p:nvSpPr>
        <p:spPr>
          <a:xfrm>
            <a:off x="731520" y="2121408"/>
            <a:ext cx="50109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</a:t>
            </a: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feeds arrive continuously and unevenly.  </a:t>
            </a:r>
            <a:r>
              <a:rPr lang="en-US" sz="1100" b="1" dirty="0">
                <a:solidFill>
                  <a:srgbClr val="3FA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</a:t>
            </a: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and aggregate readings per short interval before scoring demand.</a:t>
            </a:r>
            <a:endParaRPr lang="en-US" sz="1100" dirty="0"/>
          </a:p>
        </p:txBody>
      </p:sp>
      <p:sp>
        <p:nvSpPr>
          <p:cNvPr id="8" name="Shape 8"/>
          <p:cNvSpPr/>
          <p:nvPr/>
        </p:nvSpPr>
        <p:spPr>
          <a:xfrm>
            <a:off x="6190488" y="1645920"/>
            <a:ext cx="5468112" cy="1298448"/>
          </a:xfrm>
          <a:prstGeom prst="roundRect">
            <a:avLst>
              <a:gd name="adj" fmla="val 5634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9" name="Text 9"/>
          <p:cNvSpPr/>
          <p:nvPr/>
        </p:nvSpPr>
        <p:spPr>
          <a:xfrm>
            <a:off x="6419088" y="1773936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Accuracy</a:t>
            </a:r>
            <a:endParaRPr lang="en-US" sz="1600" dirty="0"/>
          </a:p>
        </p:txBody>
      </p:sp>
      <p:sp>
        <p:nvSpPr>
          <p:cNvPr id="10" name="Text 10"/>
          <p:cNvSpPr/>
          <p:nvPr/>
        </p:nvSpPr>
        <p:spPr>
          <a:xfrm>
            <a:off x="6419088" y="2121408"/>
            <a:ext cx="50109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</a:t>
            </a: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demand can shift quickly with events/weather.  </a:t>
            </a:r>
            <a:r>
              <a:rPr lang="en-US" sz="1100" b="1" dirty="0">
                <a:solidFill>
                  <a:srgbClr val="3FA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</a:t>
            </a: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historical baselines with live occupancy signals; revisit thresholds periodically.</a:t>
            </a:r>
            <a:endParaRPr lang="en-US" sz="1100" dirty="0"/>
          </a:p>
        </p:txBody>
      </p:sp>
      <p:sp>
        <p:nvSpPr>
          <p:cNvPr id="11" name="Shape 11"/>
          <p:cNvSpPr/>
          <p:nvPr/>
        </p:nvSpPr>
        <p:spPr>
          <a:xfrm>
            <a:off x="502920" y="3090672"/>
            <a:ext cx="5468112" cy="1298448"/>
          </a:xfrm>
          <a:prstGeom prst="roundRect">
            <a:avLst>
              <a:gd name="adj" fmla="val 5634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2" name="Text 12"/>
          <p:cNvSpPr/>
          <p:nvPr/>
        </p:nvSpPr>
        <p:spPr>
          <a:xfrm>
            <a:off x="731520" y="3218688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Decisions</a:t>
            </a:r>
            <a:endParaRPr lang="en-US" sz="1600" dirty="0"/>
          </a:p>
        </p:txBody>
      </p:sp>
      <p:sp>
        <p:nvSpPr>
          <p:cNvPr id="13" name="Text 13"/>
          <p:cNvSpPr/>
          <p:nvPr/>
        </p:nvSpPr>
        <p:spPr>
          <a:xfrm>
            <a:off x="731520" y="3566160"/>
            <a:ext cx="50109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</a:t>
            </a: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must stay fair and predictable for drivers.  </a:t>
            </a:r>
            <a:r>
              <a:rPr lang="en-US" sz="1100" b="1" dirty="0">
                <a:solidFill>
                  <a:srgbClr val="3FA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</a:t>
            </a: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bounded, published price tiers rather than unconstrained real-time bidding.</a:t>
            </a:r>
            <a:endParaRPr lang="en-US" sz="1100" dirty="0"/>
          </a:p>
        </p:txBody>
      </p:sp>
      <p:sp>
        <p:nvSpPr>
          <p:cNvPr id="14" name="Shape 14"/>
          <p:cNvSpPr/>
          <p:nvPr/>
        </p:nvSpPr>
        <p:spPr>
          <a:xfrm>
            <a:off x="6190488" y="3090672"/>
            <a:ext cx="5468112" cy="1298448"/>
          </a:xfrm>
          <a:prstGeom prst="roundRect">
            <a:avLst>
              <a:gd name="adj" fmla="val 5634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5" name="Text 15"/>
          <p:cNvSpPr/>
          <p:nvPr/>
        </p:nvSpPr>
        <p:spPr>
          <a:xfrm>
            <a:off x="6419088" y="3218688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Latency</a:t>
            </a:r>
            <a:endParaRPr lang="en-US" sz="1600" dirty="0"/>
          </a:p>
        </p:txBody>
      </p:sp>
      <p:sp>
        <p:nvSpPr>
          <p:cNvPr id="16" name="Text 16"/>
          <p:cNvSpPr/>
          <p:nvPr/>
        </p:nvSpPr>
        <p:spPr>
          <a:xfrm>
            <a:off x="6419088" y="3566160"/>
            <a:ext cx="50109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</a:t>
            </a: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weaken the incentive effect of pricing.  </a:t>
            </a:r>
            <a:r>
              <a:rPr lang="en-US" sz="1100" b="1" dirty="0">
                <a:solidFill>
                  <a:srgbClr val="3FA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</a:t>
            </a: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pricing rule lightweight; target end-to-end latency under [Insert] seconds.</a:t>
            </a:r>
            <a:endParaRPr lang="en-US" sz="1100" dirty="0"/>
          </a:p>
        </p:txBody>
      </p:sp>
      <p:sp>
        <p:nvSpPr>
          <p:cNvPr id="17" name="Shape 17"/>
          <p:cNvSpPr/>
          <p:nvPr/>
        </p:nvSpPr>
        <p:spPr>
          <a:xfrm>
            <a:off x="502920" y="4535424"/>
            <a:ext cx="5468112" cy="1298448"/>
          </a:xfrm>
          <a:prstGeom prst="roundRect">
            <a:avLst>
              <a:gd name="adj" fmla="val 5634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8" name="Text 18"/>
          <p:cNvSpPr/>
          <p:nvPr/>
        </p:nvSpPr>
        <p:spPr>
          <a:xfrm>
            <a:off x="731520" y="4663440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19" name="Text 19"/>
          <p:cNvSpPr/>
          <p:nvPr/>
        </p:nvSpPr>
        <p:spPr>
          <a:xfrm>
            <a:off x="731520" y="5010912"/>
            <a:ext cx="50109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</a:t>
            </a: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and sensors will grow with deployment.  </a:t>
            </a:r>
            <a:r>
              <a:rPr lang="en-US" sz="1100" b="1" dirty="0">
                <a:solidFill>
                  <a:srgbClr val="3FA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</a:t>
            </a: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each module (monitor / price / notify) to scale independently per zone.</a:t>
            </a:r>
            <a:endParaRPr lang="en-US" sz="1100" dirty="0"/>
          </a:p>
        </p:txBody>
      </p:sp>
      <p:sp>
        <p:nvSpPr>
          <p:cNvPr id="20" name="Shape 20"/>
          <p:cNvSpPr/>
          <p:nvPr/>
        </p:nvSpPr>
        <p:spPr>
          <a:xfrm>
            <a:off x="6190488" y="4535424"/>
            <a:ext cx="5468112" cy="1298448"/>
          </a:xfrm>
          <a:prstGeom prst="roundRect">
            <a:avLst>
              <a:gd name="adj" fmla="val 5634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21" name="Text 21"/>
          <p:cNvSpPr/>
          <p:nvPr/>
        </p:nvSpPr>
        <p:spPr>
          <a:xfrm>
            <a:off x="6419088" y="4663440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Availability</a:t>
            </a:r>
            <a:endParaRPr lang="en-US" sz="1600" dirty="0"/>
          </a:p>
        </p:txBody>
      </p:sp>
      <p:sp>
        <p:nvSpPr>
          <p:cNvPr id="22" name="Text 22"/>
          <p:cNvSpPr/>
          <p:nvPr/>
        </p:nvSpPr>
        <p:spPr>
          <a:xfrm>
            <a:off x="6419088" y="5010912"/>
            <a:ext cx="50109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</a:t>
            </a: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parking datasets are limited early on.  </a:t>
            </a:r>
            <a:r>
              <a:rPr lang="en-US" sz="1100" b="1" dirty="0">
                <a:solidFill>
                  <a:srgbClr val="3FA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</a:t>
            </a: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rule-based tiers; layer in learned prediction as data accumulates.</a:t>
            </a:r>
            <a:endParaRPr lang="en-US" sz="1100" dirty="0"/>
          </a:p>
        </p:txBody>
      </p:sp>
      <p:pic>
        <p:nvPicPr>
          <p:cNvPr id="23" name="Google Shape;145;p1" descr="Saveetha School of Engineering, Chennai, Tamil Nadu - Careerin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5937" y="137651"/>
            <a:ext cx="982440" cy="129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04585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432801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>
          <a:xfrm>
            <a:off x="3483864" y="681228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 Contributions</a:t>
            </a:r>
            <a:endParaRPr lang="en-US" sz="3200" dirty="0"/>
          </a:p>
        </p:txBody>
      </p:sp>
      <p:sp>
        <p:nvSpPr>
          <p:cNvPr id="5" name="Shape 5"/>
          <p:cNvSpPr/>
          <p:nvPr/>
        </p:nvSpPr>
        <p:spPr>
          <a:xfrm>
            <a:off x="502920" y="1691640"/>
            <a:ext cx="3593592" cy="4434840"/>
          </a:xfrm>
          <a:prstGeom prst="roundRect">
            <a:avLst>
              <a:gd name="adj" fmla="val 2036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6" name="Shape 6"/>
          <p:cNvSpPr/>
          <p:nvPr/>
        </p:nvSpPr>
        <p:spPr>
          <a:xfrm>
            <a:off x="1933956" y="2011680"/>
            <a:ext cx="731520" cy="73152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7" name="Image 0" descr="/home/claude/icons/graduation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151" y="2201875"/>
            <a:ext cx="351130" cy="351130"/>
          </a:xfrm>
          <a:prstGeom prst="rect">
            <a:avLst/>
          </a:prstGeom>
        </p:spPr>
      </p:pic>
      <p:sp>
        <p:nvSpPr>
          <p:cNvPr id="8" name="Text 7"/>
          <p:cNvSpPr/>
          <p:nvPr/>
        </p:nvSpPr>
        <p:spPr>
          <a:xfrm>
            <a:off x="685800" y="288036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Chand Basha</a:t>
            </a:r>
            <a:endParaRPr lang="en-US" sz="1500" dirty="0"/>
          </a:p>
        </p:txBody>
      </p:sp>
      <p:sp>
        <p:nvSpPr>
          <p:cNvPr id="9" name="Text 8"/>
          <p:cNvSpPr/>
          <p:nvPr/>
        </p:nvSpPr>
        <p:spPr>
          <a:xfrm>
            <a:off x="685800" y="3227832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No. 192424218</a:t>
            </a:r>
            <a:endParaRPr lang="en-US" sz="1050" dirty="0"/>
          </a:p>
        </p:txBody>
      </p:sp>
      <p:sp>
        <p:nvSpPr>
          <p:cNvPr id="11" name="Text 10"/>
          <p:cNvSpPr/>
          <p:nvPr/>
        </p:nvSpPr>
        <p:spPr>
          <a:xfrm>
            <a:off x="1293876" y="3611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2" name="Text 11"/>
          <p:cNvSpPr/>
          <p:nvPr/>
        </p:nvSpPr>
        <p:spPr>
          <a:xfrm>
            <a:off x="758952" y="4206240"/>
            <a:ext cx="30815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module implementation (Java</a:t>
            </a:r>
            <a:r>
              <a:rPr lang="en-US" sz="1050" dirty="0" smtClean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FontTx/>
              <a:buChar char="•"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</a:t>
            </a:r>
            <a:r>
              <a:rPr lang="en-US" sz="1050" dirty="0" smtClean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0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Monitoring logic</a:t>
            </a:r>
            <a:endParaRPr lang="en-US" sz="10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— confirm exact scope with team</a:t>
            </a:r>
            <a:endParaRPr lang="en-US" sz="1050" dirty="0"/>
          </a:p>
        </p:txBody>
      </p:sp>
      <p:sp>
        <p:nvSpPr>
          <p:cNvPr id="13" name="Shape 12"/>
          <p:cNvSpPr/>
          <p:nvPr/>
        </p:nvSpPr>
        <p:spPr>
          <a:xfrm>
            <a:off x="4279392" y="1691640"/>
            <a:ext cx="3593592" cy="4434840"/>
          </a:xfrm>
          <a:prstGeom prst="roundRect">
            <a:avLst>
              <a:gd name="adj" fmla="val 2036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4" name="Shape 13"/>
          <p:cNvSpPr/>
          <p:nvPr/>
        </p:nvSpPr>
        <p:spPr>
          <a:xfrm>
            <a:off x="5710428" y="2011680"/>
            <a:ext cx="731520" cy="73152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15" name="Image 1" descr="/home/claude/icons/graduation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623" y="2201875"/>
            <a:ext cx="351130" cy="351130"/>
          </a:xfrm>
          <a:prstGeom prst="rect">
            <a:avLst/>
          </a:prstGeom>
        </p:spPr>
      </p:pic>
      <p:sp>
        <p:nvSpPr>
          <p:cNvPr id="16" name="Text 14"/>
          <p:cNvSpPr/>
          <p:nvPr/>
        </p:nvSpPr>
        <p:spPr>
          <a:xfrm>
            <a:off x="4462272" y="288036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Ganeshram. 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462272" y="3227832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No. 192321060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70348" y="3611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35424" y="4206240"/>
            <a:ext cx="30815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</a:t>
            </a:r>
            <a:endParaRPr lang="en-US" sz="1050" dirty="0">
              <a:solidFill>
                <a:srgbClr val="2730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 smtClean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</a:t>
            </a: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implementation (Java</a:t>
            </a:r>
            <a:r>
              <a:rPr lang="en-US" sz="1050" dirty="0" smtClean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 smtClean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User </a:t>
            </a:r>
            <a:r>
              <a:rPr lang="en-US" sz="105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Notification &amp; </a:t>
            </a:r>
            <a:r>
              <a:rPr lang="en-US" sz="1050" dirty="0" smtClean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Booking</a:t>
            </a:r>
            <a:endParaRPr lang="en-US" sz="10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— confirm exact scope with team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55864" y="1691640"/>
            <a:ext cx="3593592" cy="4434840"/>
          </a:xfrm>
          <a:prstGeom prst="roundRect">
            <a:avLst>
              <a:gd name="adj" fmla="val 2036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486900" y="2011680"/>
            <a:ext cx="731520" cy="73152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23" name="Image 2" descr="/home/claude/icons/graduation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7095" y="2201875"/>
            <a:ext cx="351130" cy="35113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238744" y="288036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Monish. S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238744" y="3227832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No. 192311132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846820" y="3611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311896" y="4206240"/>
            <a:ext cx="30815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FontTx/>
              <a:buChar char="•"/>
            </a:pPr>
            <a:r>
              <a:rPr lang="en-US" sz="1050" dirty="0" smtClean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</a:t>
            </a: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implementation (Java</a:t>
            </a:r>
            <a:r>
              <a:rPr lang="en-US" sz="1050" dirty="0" smtClean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engine verification</a:t>
            </a:r>
            <a:endParaRPr lang="en-US" sz="10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— confirm exact scope with </a:t>
            </a:r>
            <a:r>
              <a:rPr lang="en-US" sz="1050" dirty="0" smtClean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Dynamic Pricing Engine</a:t>
            </a:r>
            <a:endParaRPr lang="en-US" sz="1050" dirty="0"/>
          </a:p>
        </p:txBody>
      </p:sp>
      <p:pic>
        <p:nvPicPr>
          <p:cNvPr id="29" name="Google Shape;145;p1" descr="Saveetha School of Engineering, Chennai, Tamil Nadu - Careerin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5937" y="137651"/>
            <a:ext cx="982440" cy="129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04585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65004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>
          <a:xfrm>
            <a:off x="3017520" y="836676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Progress / Milestones</a:t>
            </a:r>
            <a:endParaRPr lang="en-US" sz="3200" dirty="0"/>
          </a:p>
        </p:txBody>
      </p:sp>
      <p:sp>
        <p:nvSpPr>
          <p:cNvPr id="5" name="Shape 5"/>
          <p:cNvSpPr/>
          <p:nvPr/>
        </p:nvSpPr>
        <p:spPr>
          <a:xfrm>
            <a:off x="1380744" y="2331720"/>
            <a:ext cx="9509760" cy="0"/>
          </a:xfrm>
          <a:prstGeom prst="line">
            <a:avLst/>
          </a:prstGeom>
          <a:noFill/>
          <a:ln w="38100">
            <a:solidFill>
              <a:srgbClr val="D5DEE8"/>
            </a:solidFill>
            <a:prstDash val="solid"/>
          </a:ln>
        </p:spPr>
      </p:sp>
      <p:sp>
        <p:nvSpPr>
          <p:cNvPr id="6" name="Shape 6"/>
          <p:cNvSpPr/>
          <p:nvPr/>
        </p:nvSpPr>
        <p:spPr>
          <a:xfrm>
            <a:off x="1234440" y="2185416"/>
            <a:ext cx="292608" cy="292608"/>
          </a:xfrm>
          <a:prstGeom prst="ellipse">
            <a:avLst/>
          </a:prstGeom>
          <a:solidFill>
            <a:srgbClr val="3FA34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7"/>
          <p:cNvSpPr/>
          <p:nvPr/>
        </p:nvSpPr>
        <p:spPr>
          <a:xfrm>
            <a:off x="502920" y="265176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Study &amp;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100" dirty="0"/>
          </a:p>
        </p:txBody>
      </p:sp>
      <p:sp>
        <p:nvSpPr>
          <p:cNvPr id="8" name="Shape 8"/>
          <p:cNvSpPr/>
          <p:nvPr/>
        </p:nvSpPr>
        <p:spPr>
          <a:xfrm>
            <a:off x="576072" y="3429000"/>
            <a:ext cx="160934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9" name="Text 9"/>
          <p:cNvSpPr/>
          <p:nvPr/>
        </p:nvSpPr>
        <p:spPr>
          <a:xfrm>
            <a:off x="576072" y="342900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FA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10" name="Shape 10"/>
          <p:cNvSpPr/>
          <p:nvPr/>
        </p:nvSpPr>
        <p:spPr>
          <a:xfrm>
            <a:off x="3136392" y="2185416"/>
            <a:ext cx="292608" cy="292608"/>
          </a:xfrm>
          <a:prstGeom prst="ellipse">
            <a:avLst/>
          </a:prstGeom>
          <a:solidFill>
            <a:srgbClr val="3FA34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11"/>
          <p:cNvSpPr/>
          <p:nvPr/>
        </p:nvSpPr>
        <p:spPr>
          <a:xfrm>
            <a:off x="2404872" y="265176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</a:t>
            </a:r>
            <a:endParaRPr lang="en-US" sz="1100" dirty="0"/>
          </a:p>
        </p:txBody>
      </p:sp>
      <p:sp>
        <p:nvSpPr>
          <p:cNvPr id="12" name="Shape 12"/>
          <p:cNvSpPr/>
          <p:nvPr/>
        </p:nvSpPr>
        <p:spPr>
          <a:xfrm>
            <a:off x="2478024" y="3429000"/>
            <a:ext cx="160934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13" name="Text 13"/>
          <p:cNvSpPr/>
          <p:nvPr/>
        </p:nvSpPr>
        <p:spPr>
          <a:xfrm>
            <a:off x="2478024" y="342900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FA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14" name="Shape 14"/>
          <p:cNvSpPr/>
          <p:nvPr/>
        </p:nvSpPr>
        <p:spPr>
          <a:xfrm>
            <a:off x="5038344" y="2185416"/>
            <a:ext cx="292608" cy="292608"/>
          </a:xfrm>
          <a:prstGeom prst="ellipse">
            <a:avLst/>
          </a:prstGeom>
          <a:solidFill>
            <a:srgbClr val="E889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5"/>
          <p:cNvSpPr/>
          <p:nvPr/>
        </p:nvSpPr>
        <p:spPr>
          <a:xfrm>
            <a:off x="4306824" y="265176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Design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(1, 2, 3)</a:t>
            </a:r>
            <a:endParaRPr lang="en-US" sz="1100" dirty="0"/>
          </a:p>
        </p:txBody>
      </p:sp>
      <p:sp>
        <p:nvSpPr>
          <p:cNvPr id="16" name="Shape 16"/>
          <p:cNvSpPr/>
          <p:nvPr/>
        </p:nvSpPr>
        <p:spPr>
          <a:xfrm>
            <a:off x="4379976" y="3429000"/>
            <a:ext cx="160934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17" name="Text 17"/>
          <p:cNvSpPr/>
          <p:nvPr/>
        </p:nvSpPr>
        <p:spPr>
          <a:xfrm>
            <a:off x="4379976" y="342900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18" name="Shape 18"/>
          <p:cNvSpPr/>
          <p:nvPr/>
        </p:nvSpPr>
        <p:spPr>
          <a:xfrm>
            <a:off x="6940296" y="2185416"/>
            <a:ext cx="292608" cy="292608"/>
          </a:xfrm>
          <a:prstGeom prst="ellipse">
            <a:avLst/>
          </a:prstGeom>
          <a:solidFill>
            <a:srgbClr val="E889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9"/>
          <p:cNvSpPr/>
          <p:nvPr/>
        </p:nvSpPr>
        <p:spPr>
          <a:xfrm>
            <a:off x="6208776" y="265176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&amp;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Build</a:t>
            </a:r>
            <a:endParaRPr lang="en-US" sz="1100" dirty="0"/>
          </a:p>
        </p:txBody>
      </p:sp>
      <p:sp>
        <p:nvSpPr>
          <p:cNvPr id="20" name="Shape 20"/>
          <p:cNvSpPr/>
          <p:nvPr/>
        </p:nvSpPr>
        <p:spPr>
          <a:xfrm>
            <a:off x="6281928" y="3429000"/>
            <a:ext cx="160934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21" name="Text 21"/>
          <p:cNvSpPr/>
          <p:nvPr/>
        </p:nvSpPr>
        <p:spPr>
          <a:xfrm>
            <a:off x="6281928" y="342900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22" name="Shape 22"/>
          <p:cNvSpPr/>
          <p:nvPr/>
        </p:nvSpPr>
        <p:spPr>
          <a:xfrm>
            <a:off x="8842248" y="2185416"/>
            <a:ext cx="292608" cy="292608"/>
          </a:xfrm>
          <a:prstGeom prst="ellipse">
            <a:avLst/>
          </a:prstGeom>
          <a:solidFill>
            <a:srgbClr val="AEB9C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3"/>
          <p:cNvSpPr/>
          <p:nvPr/>
        </p:nvSpPr>
        <p:spPr>
          <a:xfrm>
            <a:off x="8110728" y="265176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24" name="Shape 24"/>
          <p:cNvSpPr/>
          <p:nvPr/>
        </p:nvSpPr>
        <p:spPr>
          <a:xfrm>
            <a:off x="8183880" y="3429000"/>
            <a:ext cx="160934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25" name="Text 25"/>
          <p:cNvSpPr/>
          <p:nvPr/>
        </p:nvSpPr>
        <p:spPr>
          <a:xfrm>
            <a:off x="8183880" y="342900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26" name="Shape 26"/>
          <p:cNvSpPr/>
          <p:nvPr/>
        </p:nvSpPr>
        <p:spPr>
          <a:xfrm>
            <a:off x="10744200" y="2185416"/>
            <a:ext cx="292608" cy="292608"/>
          </a:xfrm>
          <a:prstGeom prst="ellipse">
            <a:avLst/>
          </a:prstGeom>
          <a:solidFill>
            <a:srgbClr val="AEB9C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7"/>
          <p:cNvSpPr/>
          <p:nvPr/>
        </p:nvSpPr>
        <p:spPr>
          <a:xfrm>
            <a:off x="10012680" y="265176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&amp;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28" name="Shape 28"/>
          <p:cNvSpPr/>
          <p:nvPr/>
        </p:nvSpPr>
        <p:spPr>
          <a:xfrm>
            <a:off x="10085832" y="3429000"/>
            <a:ext cx="160934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29" name="Text 29"/>
          <p:cNvSpPr/>
          <p:nvPr/>
        </p:nvSpPr>
        <p:spPr>
          <a:xfrm>
            <a:off x="10085832" y="342900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30" name="Text 30"/>
          <p:cNvSpPr/>
          <p:nvPr/>
        </p:nvSpPr>
        <p:spPr>
          <a:xfrm>
            <a:off x="502920" y="4206240"/>
            <a:ext cx="11155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</a:t>
            </a:r>
            <a:r>
              <a:rPr lang="en-US" sz="1600" b="1" dirty="0" smtClean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</a:p>
          <a:p>
            <a:pPr marL="0" indent="0">
              <a:lnSpc>
                <a:spcPct val="108000"/>
              </a:lnSpc>
              <a:spcAft>
                <a:spcPts val="200"/>
              </a:spcAft>
              <a:buNone/>
            </a:pP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module design, and literature review are </a:t>
            </a:r>
            <a:r>
              <a:rPr lang="en-US" dirty="0" smtClean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completed.</a:t>
            </a:r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dirty="0" smtClean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odule </a:t>
            </a:r>
            <a:r>
              <a:rPr lang="en-US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and prototype work are in progress</a:t>
            </a:r>
            <a:r>
              <a:rPr lang="en-US" dirty="0" smtClean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</p:txBody>
      </p:sp>
      <p:pic>
        <p:nvPicPr>
          <p:cNvPr id="31" name="Google Shape;145;p1" descr="Saveetha School of Engineering, Chennai, Tamil Nadu - Careerin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5937" y="137651"/>
            <a:ext cx="982440" cy="129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04585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565865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>
          <a:xfrm>
            <a:off x="4823460" y="764438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200" dirty="0"/>
          </a:p>
        </p:txBody>
      </p:sp>
      <p:sp>
        <p:nvSpPr>
          <p:cNvPr id="5" name="Shape 5"/>
          <p:cNvSpPr/>
          <p:nvPr/>
        </p:nvSpPr>
        <p:spPr>
          <a:xfrm>
            <a:off x="502920" y="1691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6" name="Shape 6"/>
          <p:cNvSpPr/>
          <p:nvPr/>
        </p:nvSpPr>
        <p:spPr>
          <a:xfrm>
            <a:off x="758952" y="1947672"/>
            <a:ext cx="548640" cy="548640"/>
          </a:xfrm>
          <a:prstGeom prst="ellipse">
            <a:avLst/>
          </a:prstGeom>
          <a:solidFill>
            <a:srgbClr val="8A93A0"/>
          </a:solidFill>
          <a:ln/>
        </p:spPr>
      </p:sp>
      <p:pic>
        <p:nvPicPr>
          <p:cNvPr id="7" name="Image 0" descr="/home/claude/icons/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598" y="2090318"/>
            <a:ext cx="263347" cy="263347"/>
          </a:xfrm>
          <a:prstGeom prst="rect">
            <a:avLst/>
          </a:prstGeom>
        </p:spPr>
      </p:pic>
      <p:sp>
        <p:nvSpPr>
          <p:cNvPr id="8" name="Text 7"/>
          <p:cNvSpPr/>
          <p:nvPr/>
        </p:nvSpPr>
        <p:spPr>
          <a:xfrm>
            <a:off x="1463040" y="19659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Availability</a:t>
            </a:r>
            <a:endParaRPr lang="en-US" dirty="0"/>
          </a:p>
        </p:txBody>
      </p:sp>
      <p:sp>
        <p:nvSpPr>
          <p:cNvPr id="9" name="Text 8"/>
          <p:cNvSpPr/>
          <p:nvPr/>
        </p:nvSpPr>
        <p:spPr>
          <a:xfrm>
            <a:off x="758952" y="2560320"/>
            <a:ext cx="4837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historical parking-demand datasets are limited during early development, so pricing tiers currently rely on assumed thresholds.</a:t>
            </a:r>
            <a:endParaRPr lang="en-US" sz="1400" dirty="0"/>
          </a:p>
        </p:txBody>
      </p:sp>
      <p:sp>
        <p:nvSpPr>
          <p:cNvPr id="10" name="Shape 9"/>
          <p:cNvSpPr/>
          <p:nvPr/>
        </p:nvSpPr>
        <p:spPr>
          <a:xfrm>
            <a:off x="6172200" y="1691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1" name="Shape 10"/>
          <p:cNvSpPr/>
          <p:nvPr/>
        </p:nvSpPr>
        <p:spPr>
          <a:xfrm>
            <a:off x="6428232" y="1947672"/>
            <a:ext cx="548640" cy="548640"/>
          </a:xfrm>
          <a:prstGeom prst="ellipse">
            <a:avLst/>
          </a:prstGeom>
          <a:solidFill>
            <a:srgbClr val="8A93A0"/>
          </a:solidFill>
          <a:ln/>
        </p:spPr>
      </p:sp>
      <p:pic>
        <p:nvPicPr>
          <p:cNvPr id="12" name="Image 1" descr="/home/claude/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878" y="2090318"/>
            <a:ext cx="263347" cy="263347"/>
          </a:xfrm>
          <a:prstGeom prst="rect">
            <a:avLst/>
          </a:prstGeom>
        </p:spPr>
      </p:pic>
      <p:sp>
        <p:nvSpPr>
          <p:cNvPr id="13" name="Text 11"/>
          <p:cNvSpPr/>
          <p:nvPr/>
        </p:nvSpPr>
        <p:spPr>
          <a:xfrm>
            <a:off x="7132320" y="19659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Limitations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28232" y="2560320"/>
            <a:ext cx="4837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demand prediction may lose accuracy during unusual events, holidays, or extreme weather.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886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58952" y="4142232"/>
            <a:ext cx="548640" cy="548640"/>
          </a:xfrm>
          <a:prstGeom prst="ellipse">
            <a:avLst/>
          </a:prstGeom>
          <a:solidFill>
            <a:srgbClr val="8A93A0"/>
          </a:solidFill>
          <a:ln/>
        </p:spPr>
      </p:sp>
      <p:pic>
        <p:nvPicPr>
          <p:cNvPr id="17" name="Image 2" descr="/home/claude/icons/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598" y="4284878"/>
            <a:ext cx="263347" cy="263347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463040" y="41605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Limitations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758952" y="4754880"/>
            <a:ext cx="4837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deployment requires physical sensor installation across zones, which is outside the current academic scope.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172200" y="3886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28232" y="4142232"/>
            <a:ext cx="548640" cy="548640"/>
          </a:xfrm>
          <a:prstGeom prst="ellipse">
            <a:avLst/>
          </a:prstGeom>
          <a:solidFill>
            <a:srgbClr val="8A93A0"/>
          </a:solidFill>
          <a:ln/>
        </p:spPr>
      </p:sp>
      <p:pic>
        <p:nvPicPr>
          <p:cNvPr id="22" name="Image 3" descr="/home/claude/icons/rupe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0878" y="4284878"/>
            <a:ext cx="263347" cy="263347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132320" y="41605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/ Cost</a:t>
            </a: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6428232" y="4754880"/>
            <a:ext cx="4837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hardware, cloud hosting, and API costs would scale with the number of zones covered.</a:t>
            </a:r>
            <a:endParaRPr lang="en-US" sz="1400" dirty="0"/>
          </a:p>
        </p:txBody>
      </p:sp>
      <p:pic>
        <p:nvPicPr>
          <p:cNvPr id="25" name="Google Shape;145;p1" descr="Saveetha School of Engineering, Chennai, Tamil Nadu - Careerindia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5937" y="137651"/>
            <a:ext cx="982440" cy="129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04585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26833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>
          <a:xfrm>
            <a:off x="4037163" y="635508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200" dirty="0"/>
          </a:p>
        </p:txBody>
      </p:sp>
      <p:sp>
        <p:nvSpPr>
          <p:cNvPr id="5" name="Shape 5"/>
          <p:cNvSpPr/>
          <p:nvPr/>
        </p:nvSpPr>
        <p:spPr>
          <a:xfrm>
            <a:off x="502920" y="169164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6" name="Shape 6"/>
          <p:cNvSpPr/>
          <p:nvPr/>
        </p:nvSpPr>
        <p:spPr>
          <a:xfrm>
            <a:off x="1508760" y="1965960"/>
            <a:ext cx="640080" cy="64008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7" name="Image 0" descr="/home/claude/icons/gl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181" y="2132381"/>
            <a:ext cx="307238" cy="307238"/>
          </a:xfrm>
          <a:prstGeom prst="rect">
            <a:avLst/>
          </a:prstGeom>
        </p:spPr>
      </p:pic>
      <p:sp>
        <p:nvSpPr>
          <p:cNvPr id="8" name="Text 7"/>
          <p:cNvSpPr/>
          <p:nvPr/>
        </p:nvSpPr>
        <p:spPr>
          <a:xfrm>
            <a:off x="640080" y="27432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Multi-City Deployment</a:t>
            </a:r>
            <a:endParaRPr lang="en-US" sz="1200" dirty="0"/>
          </a:p>
        </p:txBody>
      </p:sp>
      <p:sp>
        <p:nvSpPr>
          <p:cNvPr id="9" name="Shape 8"/>
          <p:cNvSpPr/>
          <p:nvPr/>
        </p:nvSpPr>
        <p:spPr>
          <a:xfrm>
            <a:off x="3374136" y="169164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0" name="Shape 9"/>
          <p:cNvSpPr/>
          <p:nvPr/>
        </p:nvSpPr>
        <p:spPr>
          <a:xfrm>
            <a:off x="4379976" y="1965960"/>
            <a:ext cx="640080" cy="64008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11" name="Image 1" descr="/home/claude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6397" y="2132381"/>
            <a:ext cx="307238" cy="307238"/>
          </a:xfrm>
          <a:prstGeom prst="rect">
            <a:avLst/>
          </a:prstGeom>
        </p:spPr>
      </p:pic>
      <p:sp>
        <p:nvSpPr>
          <p:cNvPr id="12" name="Text 10"/>
          <p:cNvSpPr/>
          <p:nvPr/>
        </p:nvSpPr>
        <p:spPr>
          <a:xfrm>
            <a:off x="3511296" y="27432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Multi-Zone Scaling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45352" y="169164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251192" y="1965960"/>
            <a:ext cx="640080" cy="64008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15" name="Image 2" descr="/home/claude/icons/ro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7613" y="2132381"/>
            <a:ext cx="307238" cy="30723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382512" y="27432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 Routing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116568" y="169164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0122408" y="1965960"/>
            <a:ext cx="640080" cy="64008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19" name="Image 3" descr="/home/claude/icons/e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8829" y="2132381"/>
            <a:ext cx="307238" cy="30723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253728" y="27432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Integration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02920" y="388620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1508760" y="4160520"/>
            <a:ext cx="640080" cy="64008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23" name="Image 4" descr="/home/claude/icons/build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5181" y="4326941"/>
            <a:ext cx="307238" cy="30723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40080" y="4937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Transit Linkage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3374136" y="388620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379976" y="4160520"/>
            <a:ext cx="640080" cy="64008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27" name="Image 5" descr="/home/claude/icons/rob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6397" y="4326941"/>
            <a:ext cx="307238" cy="30723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3511296" y="4937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Prediction Models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6245352" y="388620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251192" y="4160520"/>
            <a:ext cx="640080" cy="64008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31" name="Image 6" descr="/home/claude/icons/handshak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17613" y="4326941"/>
            <a:ext cx="307238" cy="30723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382512" y="4937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Deployment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9116568" y="388620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10122408" y="4160520"/>
            <a:ext cx="640080" cy="64008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35" name="Image 7" descr="/home/claude/icons/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8829" y="4326941"/>
            <a:ext cx="307238" cy="30723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253728" y="4937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Optimization Analytics</a:t>
            </a:r>
            <a:endParaRPr lang="en-US" sz="1200" dirty="0"/>
          </a:p>
        </p:txBody>
      </p:sp>
      <p:pic>
        <p:nvPicPr>
          <p:cNvPr id="37" name="Google Shape;145;p1" descr="Saveetha School of Engineering, Chennai, Tamil Nadu - Careerindia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75937" y="137651"/>
            <a:ext cx="982440" cy="129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004585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96442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>
          <a:xfrm>
            <a:off x="2807208" y="585216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Project Outcomes</a:t>
            </a:r>
            <a:endParaRPr lang="en-US" sz="3200" dirty="0"/>
          </a:p>
        </p:txBody>
      </p:sp>
      <p:sp>
        <p:nvSpPr>
          <p:cNvPr id="5" name="Text 5"/>
          <p:cNvSpPr/>
          <p:nvPr/>
        </p:nvSpPr>
        <p:spPr>
          <a:xfrm>
            <a:off x="502920" y="1645920"/>
            <a:ext cx="5669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Dynamic Public Parking Pricing System links real-time occupancy sensing, short-term demand prediction, and automated pricing into one connected pipeline — closing a gap left open by prior standalone research</a:t>
            </a:r>
            <a:r>
              <a:rPr lang="en-US" sz="1600" dirty="0" smtClean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>
              <a:lnSpc>
                <a:spcPct val="108000"/>
              </a:lnSpc>
              <a:spcAft>
                <a:spcPts val="600"/>
              </a:spcAft>
              <a:buSzPct val="100000"/>
            </a:pPr>
            <a:endParaRPr lang="en-US" sz="1600" dirty="0"/>
          </a:p>
          <a:p>
            <a:pPr marL="0" indent="0">
              <a:lnSpc>
                <a:spcPct val="108000"/>
              </a:lnSpc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 Outcomes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Java-based backend design to a real-world smart-city problem end to end.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Practiced translating a research gap into concrete modules, requirements, and test cases.</a:t>
            </a:r>
            <a:endParaRPr lang="en-US" sz="1600" dirty="0"/>
          </a:p>
        </p:txBody>
      </p:sp>
      <p:sp>
        <p:nvSpPr>
          <p:cNvPr id="6" name="Shape 6"/>
          <p:cNvSpPr/>
          <p:nvPr/>
        </p:nvSpPr>
        <p:spPr>
          <a:xfrm>
            <a:off x="6446520" y="1645920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7" name="Shape 7"/>
          <p:cNvSpPr/>
          <p:nvPr/>
        </p:nvSpPr>
        <p:spPr>
          <a:xfrm>
            <a:off x="6647688" y="1837944"/>
            <a:ext cx="548640" cy="54864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8" name="Image 0" descr="/home/claude/icons/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0334" y="1980590"/>
            <a:ext cx="263347" cy="263347"/>
          </a:xfrm>
          <a:prstGeom prst="rect">
            <a:avLst/>
          </a:prstGeom>
        </p:spPr>
      </p:pic>
      <p:sp>
        <p:nvSpPr>
          <p:cNvPr id="9" name="Text 8"/>
          <p:cNvSpPr/>
          <p:nvPr/>
        </p:nvSpPr>
        <p:spPr>
          <a:xfrm>
            <a:off x="7360920" y="1645920"/>
            <a:ext cx="4114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toward stated objectives (see Slide 8)</a:t>
            </a:r>
            <a:endParaRPr lang="en-US" sz="1250" dirty="0"/>
          </a:p>
        </p:txBody>
      </p:sp>
      <p:sp>
        <p:nvSpPr>
          <p:cNvPr id="10" name="Shape 9"/>
          <p:cNvSpPr/>
          <p:nvPr/>
        </p:nvSpPr>
        <p:spPr>
          <a:xfrm>
            <a:off x="6446520" y="2724912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1" name="Shape 10"/>
          <p:cNvSpPr/>
          <p:nvPr/>
        </p:nvSpPr>
        <p:spPr>
          <a:xfrm>
            <a:off x="6647688" y="2916936"/>
            <a:ext cx="548640" cy="54864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12" name="Image 1" descr="/home/claude/icons/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0334" y="3059582"/>
            <a:ext cx="263347" cy="263347"/>
          </a:xfrm>
          <a:prstGeom prst="rect">
            <a:avLst/>
          </a:prstGeom>
        </p:spPr>
      </p:pic>
      <p:sp>
        <p:nvSpPr>
          <p:cNvPr id="13" name="Text 11"/>
          <p:cNvSpPr/>
          <p:nvPr/>
        </p:nvSpPr>
        <p:spPr>
          <a:xfrm>
            <a:off x="7360920" y="2724912"/>
            <a:ext cx="4114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parking search time and congestion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46520" y="3803904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EAF1FA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47688" y="3995928"/>
            <a:ext cx="548640" cy="54864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16" name="Image 2" descr="/home/claude/icons/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0334" y="4138574"/>
            <a:ext cx="263347" cy="263347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360920" y="3803904"/>
            <a:ext cx="4114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Sustainable, data-driven smart-city contribution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446520" y="4882896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CE8F7"/>
            </a:solidFill>
            <a:prstDash val="solid"/>
          </a:ln>
          <a:effectLst>
            <a:outerShdw blurRad="76200" dist="25400" dir="5400000" algn="bl" rotWithShape="0">
              <a:srgbClr val="1B3A63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647688" y="5074920"/>
            <a:ext cx="548640" cy="54864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20" name="Image 3" descr="/home/claude/icons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0334" y="5217566"/>
            <a:ext cx="263347" cy="263347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360920" y="4882896"/>
            <a:ext cx="4114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 ready for future enhancement</a:t>
            </a:r>
            <a:endParaRPr lang="en-US" sz="1250" dirty="0"/>
          </a:p>
        </p:txBody>
      </p:sp>
      <p:pic>
        <p:nvPicPr>
          <p:cNvPr id="22" name="Google Shape;145;p1" descr="Saveetha School of Engineering, Chennai, Tamil Nadu - Careerindia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5937" y="137651"/>
            <a:ext cx="982440" cy="129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04585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959886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>
          <a:xfrm>
            <a:off x="4584583" y="45787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5" name="Text 5"/>
          <p:cNvSpPr/>
          <p:nvPr/>
        </p:nvSpPr>
        <p:spPr>
          <a:xfrm>
            <a:off x="981093" y="1599701"/>
            <a:ext cx="7136364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Ali, S. &amp; Shah, M. (2022). IoT-Based Smart Parking Monitoring System.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Zhang, Y. et al. (2023). Machine Learning-Based Parking Demand Prediction.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Zhou, H. &amp; Lee, K. (2023). Dynamic Parking Pricing Using Demand–Supply Analysis.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Sarker, T. et al. (2024). Smart Parking Management System with IoT Integration.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Mabrouk, A. et al. (2024). Deep Learning-Based Parking Demand Forecasting.</a:t>
            </a:r>
            <a:endParaRPr lang="en-US" sz="1600" dirty="0"/>
          </a:p>
        </p:txBody>
      </p:sp>
      <p:sp>
        <p:nvSpPr>
          <p:cNvPr id="6" name="Text 6"/>
          <p:cNvSpPr/>
          <p:nvPr/>
        </p:nvSpPr>
        <p:spPr>
          <a:xfrm>
            <a:off x="981093" y="3639096"/>
            <a:ext cx="52120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Technologies, APIs &amp; Datasets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/ Spring Boot documentation — [Insert reference version].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ML framework documentation, e.g., scikit-learn].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maps / navigation API documentation].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payment gateway API documentation].</a:t>
            </a:r>
            <a:endParaRPr lang="en-US" sz="1600" dirty="0"/>
          </a:p>
          <a:p>
            <a:pPr marL="0" indent="0">
              <a:lnSpc>
                <a:spcPct val="108000"/>
              </a:lnSpc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&amp; Standards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relevant textbook or IEEE/ISO standard, if used].</a:t>
            </a:r>
            <a:endParaRPr lang="en-US" sz="1600" dirty="0"/>
          </a:p>
        </p:txBody>
      </p:sp>
      <p:pic>
        <p:nvPicPr>
          <p:cNvPr id="7" name="Google Shape;145;p1" descr="Saveetha School of Engineering, Chennai, Tamil Nadu - Careerin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5937" y="137651"/>
            <a:ext cx="982440" cy="1292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04585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47273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46;p1" descr="CFP: Conference on Smart &amp; Modernisation Techniques @ Saveetha University,  Chennai [Mar 16-17] : Submit by Jan 8 - NoticeBard | Hom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04585" y="-563092"/>
            <a:ext cx="3052177" cy="2532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45;p1" descr="Saveetha School of Engineering, Chennai, Tamil Nadu - Careerin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5937" y="137651"/>
            <a:ext cx="982440" cy="129276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3347049" y="396815"/>
            <a:ext cx="54950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767" y="1518250"/>
            <a:ext cx="9588993" cy="451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9029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152051E-79B6-8F3C-BBA1-6DC6E4761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91,900+ Thank You Stock Photos, Pictures &amp; Royalty-Free Images - iStock |  Thank you card, Appreciation, Gratitude">
            <a:extLst>
              <a:ext uri="{FF2B5EF4-FFF2-40B4-BE49-F238E27FC236}">
                <a16:creationId xmlns:a16="http://schemas.microsoft.com/office/drawing/2014/main" xmlns="" id="{E176D389-9402-A4DC-347D-30B4E668E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20684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9681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2673</Words>
  <Application>Microsoft Office PowerPoint</Application>
  <PresentationFormat>Widescreen</PresentationFormat>
  <Paragraphs>478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Arial</vt:lpstr>
      <vt:lpstr>Calibri</vt:lpstr>
      <vt:lpstr>Calibri Light</vt:lpstr>
      <vt:lpstr>Cambria</vt:lpstr>
      <vt:lpstr>Courier New</vt:lpstr>
      <vt:lpstr>Raleway</vt:lpstr>
      <vt:lpstr>Roboto</vt:lpstr>
      <vt:lpstr>Roboto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Gagan Reddy</dc:creator>
  <cp:lastModifiedBy>Microsoft account</cp:lastModifiedBy>
  <cp:revision>19</cp:revision>
  <dcterms:modified xsi:type="dcterms:W3CDTF">2026-08-29T05:29:04Z</dcterms:modified>
</cp:coreProperties>
</file>